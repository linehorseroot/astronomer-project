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9"/>
    <p:sldId id="259" r:id="rId5"/>
    <p:sldId id="260" r:id="rId6"/>
    <p:sldId id="277" r:id="rId28"/>
    <p:sldId id="278" r:id="rId29"/>
    <p:sldId id="279" r:id="rId30"/>
    <p:sldId id="280" r:id="rId31"/>
    <p:sldId id="281" r:id="rId32"/>
    <p:sldId id="267" r:id="rId13"/>
    <p:sldId id="269" r:id="rId15"/>
    <p:sldId id="261" r:id="rId7"/>
    <p:sldId id="262" r:id="rId8"/>
    <p:sldId id="264" r:id="rId10"/>
    <p:sldId id="271" r:id="rId17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4800</c:v>
                </c:pt>
                <c:pt idx="2">
                  <c:v>6400</c:v>
                </c:pt>
                <c:pt idx="3">
                  <c:v>8900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2169"/>
              </a:solidFill>
              <a:effectLst/>
            </c:spPr>
          </c:dPt>
          <c:dPt>
            <c:idx val="1"/>
            <c:bubble3D val="0"/>
            <c:spPr>
              <a:solidFill>
                <a:srgbClr val="1B6CD4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Pt>
            <c:idx val="3"/>
            <c:bubble3D val="0"/>
            <c:spPr>
              <a:solidFill>
                <a:srgbClr val="6FA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Compute</c:v>
                </c:pt>
                <c:pt idx="1">
                  <c:v>Storage</c:v>
                </c:pt>
                <c:pt idx="2">
                  <c:v>Network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p95</c:v>
                </c:pt>
              </c:strCache>
            </c:strRef>
          </c:tx>
          <c:spPr>
            <a:solidFill>
              <a:srgbClr val="E31837"/>
            </a:solidFill>
            <a:ln w="38100" cap="flat">
              <a:solidFill>
                <a:srgbClr val="E318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31837"/>
              </a:solidFill>
              <a:ln w="9525" cap="flat">
                <a:solidFill>
                  <a:srgbClr val="E318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210</c:v>
                </c:pt>
                <c:pt idx="1">
                  <c:v>185</c:v>
                </c:pt>
                <c:pt idx="2">
                  <c:v>160</c:v>
                </c:pt>
                <c:pt idx="3">
                  <c:v>140</c:v>
                </c:pt>
                <c:pt idx="4">
                  <c:v>128</c:v>
                </c:pt>
                <c:pt idx="5">
                  <c:v>120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998B"/>
              </a:solidFill>
              <a:effectLst/>
            </c:spPr>
          </c:dPt>
          <c:dPt>
            <c:idx val="1"/>
            <c:bubble3D val="0"/>
            <c:spPr>
              <a:solidFill>
                <a:srgbClr val="6FA8E8"/>
              </a:solidFill>
              <a:effectLst/>
            </c:spPr>
          </c:dPt>
          <c:dPt>
            <c:idx val="2"/>
            <c:bubble3D val="0"/>
            <c:spPr>
              <a:solidFill>
                <a:srgbClr val="E3183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Met</c:v>
                </c:pt>
                <c:pt idx="1">
                  <c:v>At Risk</c:v>
                </c:pt>
                <c:pt idx="2">
                  <c:v>Breached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82</c:v>
                </c:pt>
                <c:pt idx="1">
                  <c:v>13</c:v>
                </c:pt>
                <c:pt idx="2">
                  <c:v>5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6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B6C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28</c:v>
                </c:pt>
                <c:pt idx="2">
                  <c:v>51</c:v>
                </c:pt>
                <c:pt idx="3">
                  <c:v>86</c:v>
                </c:pt>
                <c:pt idx="4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7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8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5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9728"/>
            <a:ext cx="3319272" cy="6748272"/>
          </a:xfrm>
          <a:prstGeom prst="rect">
            <a:avLst/>
          </a:prstGeom>
          <a:solidFill>
            <a:srgbClr val="0A2A6B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09728"/>
            <a:ext cx="54864" cy="674827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AstroFlow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Review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7947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Business-friendly orchestration on Astronomer: Airflow orchestrates, a separate engine executes, and the dashboard stays live.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pPr indent="0" marL="0">
              <a:buNone/>
            </a:pPr>
            <a:r>
              <a:rPr lang="en-US" sz="15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Software Architect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440680"/>
            <a:ext cx="1152144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40680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30552" y="5440680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544068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0" y="544068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10336E"/>
          </a:solidFill>
          <a:ln w="12700">
            <a:solidFill>
              <a:srgbClr val="274C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544068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Principles &amp; Goals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vs. execution, and why it matters.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734056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734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73405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Reference Architecture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components across OpenShift namespaces.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502152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35021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Execution Model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flow and the deferred-task lifecycle.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70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270248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Trade-offs &amp; Risks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decisions, open questions, and mitigations.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012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08760" y="50383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Roadmap   </a:t>
            </a:r>
            <a:pPr indent="0" marL="0">
              <a:buNone/>
            </a:pPr>
            <a:r>
              <a:rPr lang="en-US" sz="14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 delivery to enterprise GA.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Title Goes Here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framing what this section covers and why it matters.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Pillars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sequences tasks; it performs no compute.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dispatch work and defer; workers stay free.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decouples every component end to end.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Updates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pushes each state change to the UI.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Isolation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 is its own OpenShift namespace.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compose from governed, versioned templates.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012169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(UI)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· run &amp; schedule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204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ns · orchestrator · 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3291840"/>
            <a:ext cx="21945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32918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ns · Airflow · operators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006840" y="329184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982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Engine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ns · compute</a:t>
            </a:r>
            <a:endParaRPr lang="en-US" sz="14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648456"/>
            <a:ext cx="411480" cy="292608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3648456"/>
            <a:ext cx="411480" cy="292608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48456"/>
            <a:ext cx="411480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20440" y="19202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3611880" y="1920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— Event 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execution.status · task.result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520440" y="48006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0336E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611880" y="4800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Platform &amp; Observability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namespaces · RBAC · Metrics · Logs · Tracing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77240" y="5806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Astronomer/Airflow orchestrates only — all compute runs in the Execution Engine. Each component is an isolated OpenShift namespace on a shared Kafka backbone.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Resuming a Deferred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· Trigger Event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083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resolver of truth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6118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 updates UI &amp; task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21538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triggerer + custom trigger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818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coupling to operator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309360" y="201168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7" name="Text 11"/>
          <p:cNvSpPr/>
          <p:nvPr/>
        </p:nvSpPr>
        <p:spPr>
          <a:xfrm>
            <a:off x="6309360" y="2011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· Airflow REST API</a:t>
            </a:r>
            <a:endParaRPr lang="en-US" sz="1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00837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86600" y="2926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to implement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3611880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086600" y="35295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trigger code</a:t>
            </a:r>
            <a:endParaRPr 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0" y="421538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086600" y="41330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execute_complete</a:t>
            </a:r>
            <a:endParaRPr 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4818888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086600" y="4736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can drift from deferral</a:t>
            </a:r>
            <a:endParaRPr lang="en-US" sz="1400" dirty="0"/>
          </a:p>
        </p:txBody>
      </p:sp>
      <p:sp>
        <p:nvSpPr>
          <p:cNvPr id="26" name="Text 1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/ Effort Matrix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194560" y="1965960"/>
            <a:ext cx="2002536" cy="2002536"/>
          </a:xfrm>
          <a:prstGeom prst="rect">
            <a:avLst/>
          </a:prstGeom>
          <a:solidFill>
            <a:srgbClr val="DCF1E4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Wins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377440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status transport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965960"/>
            <a:ext cx="2002536" cy="2002536"/>
          </a:xfrm>
          <a:prstGeom prst="rect">
            <a:avLst/>
          </a:prstGeom>
          <a:solidFill>
            <a:srgbClr val="E2ECF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9704" y="237744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Projects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89704" y="288036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Trigger-event resume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078224"/>
            <a:ext cx="2002536" cy="2002536"/>
          </a:xfrm>
          <a:prstGeom prst="rect">
            <a:avLst/>
          </a:prstGeom>
          <a:solidFill>
            <a:srgbClr val="F0F2F6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Fill-Ins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377440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SLA timeouts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6824" y="4078224"/>
            <a:ext cx="2002536" cy="2002536"/>
          </a:xfrm>
          <a:prstGeom prst="rect">
            <a:avLst/>
          </a:prstGeom>
          <a:solidFill>
            <a:srgbClr val="FCE7EB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448970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18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Thankless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9704" y="4992624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REST resume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 rot="16200000">
            <a:off x="777240" y="1965960"/>
            <a:ext cx="12801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94560" y="6172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 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0" y="237744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12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
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 decisions plotted by value vs. effort. Start top-left; the trigger-event resume is the high-value bet.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2103120"/>
            <a:ext cx="128016" cy="23774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011680"/>
            <a:ext cx="9692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“Airflow orchestrates the work. It never performs the work.”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161288" y="4572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Compute is fully decoupled: tasks defer while a separate engine executes.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 That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Text 4"/>
          <p:cNvSpPr/>
          <p:nvPr/>
        </p:nvSpPr>
        <p:spPr>
          <a:xfrm>
            <a:off x="886968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99.99%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886968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93008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0" name="Text 8"/>
          <p:cNvSpPr/>
          <p:nvPr/>
        </p:nvSpPr>
        <p:spPr>
          <a:xfrm>
            <a:off x="3602736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&lt;50ms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602736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UI LATENCY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fps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318504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24544" y="1828800"/>
            <a:ext cx="2432304" cy="1371600"/>
          </a:xfrm>
          <a:prstGeom prst="rect">
            <a:avLst/>
          </a:prstGeom>
          <a:solidFill>
            <a:srgbClr val="012169"/>
          </a:solidFill>
          <a:ln/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24544" y="1828800"/>
            <a:ext cx="64008" cy="13716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Text 16"/>
          <p:cNvSpPr/>
          <p:nvPr/>
        </p:nvSpPr>
        <p:spPr>
          <a:xfrm>
            <a:off x="9034272" y="1965960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034272" y="2724912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200" kern="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BLOCKED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777240" y="3520440"/>
          <a:ext cx="106070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&amp; Trend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 Mix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Trend (p95, ms)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Composition &amp; Growth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 Attainment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94560"/>
          <a:ext cx="53035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3550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Growth (users, k)</a:t>
            </a:r>
            <a:endParaRPr lang="en-US" sz="16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2194560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4332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377544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280" y="32186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4332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4332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runs / schedules DAG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64" y="3529584"/>
            <a:ext cx="32918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1460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91460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3" name="Shape 9"/>
          <p:cNvSpPr/>
          <p:nvPr/>
        </p:nvSpPr>
        <p:spPr>
          <a:xfrm>
            <a:off x="3544672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21868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91460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Dispatch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991460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emits command</a:t>
            </a:r>
            <a:endParaRPr lang="en-US" sz="11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7692" y="3529584"/>
            <a:ext cx="32918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158588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158588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0" name="Shape 14"/>
          <p:cNvSpPr/>
          <p:nvPr/>
        </p:nvSpPr>
        <p:spPr>
          <a:xfrm>
            <a:off x="5711800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5536" y="3218688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58588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5158588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waits · worker freed</a:t>
            </a:r>
            <a:endParaRPr lang="en-US" sz="11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4820" y="3529584"/>
            <a:ext cx="329184" cy="23774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325716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325716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Shape 19"/>
          <p:cNvSpPr/>
          <p:nvPr/>
        </p:nvSpPr>
        <p:spPr>
          <a:xfrm>
            <a:off x="7878928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664" y="3218688"/>
            <a:ext cx="420624" cy="42062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25716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600" dirty="0"/>
          </a:p>
        </p:txBody>
      </p:sp>
      <p:sp>
        <p:nvSpPr>
          <p:cNvPr id="30" name="Text 21"/>
          <p:cNvSpPr/>
          <p:nvPr/>
        </p:nvSpPr>
        <p:spPr>
          <a:xfrm>
            <a:off x="7325716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computes &amp; reports</a:t>
            </a:r>
            <a:endParaRPr lang="en-US" sz="11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1948" y="3529584"/>
            <a:ext cx="329184" cy="23774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92844" y="2743200"/>
            <a:ext cx="1874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3" name="Shape 23"/>
          <p:cNvSpPr/>
          <p:nvPr/>
        </p:nvSpPr>
        <p:spPr>
          <a:xfrm>
            <a:off x="9492844" y="2743200"/>
            <a:ext cx="1874520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4" name="Shape 24"/>
          <p:cNvSpPr/>
          <p:nvPr/>
        </p:nvSpPr>
        <p:spPr>
          <a:xfrm>
            <a:off x="10046056" y="3035808"/>
            <a:ext cx="768096" cy="768096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9792" y="3218688"/>
            <a:ext cx="420624" cy="42062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492844" y="3913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</a:t>
            </a:r>
            <a:endParaRPr lang="en-US" sz="1600" dirty="0"/>
          </a:p>
        </p:txBody>
      </p:sp>
      <p:sp>
        <p:nvSpPr>
          <p:cNvPr id="37" name="Text 26"/>
          <p:cNvSpPr/>
          <p:nvPr/>
        </p:nvSpPr>
        <p:spPr>
          <a:xfrm>
            <a:off x="9492844" y="422452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updates UI</a:t>
            </a:r>
            <a:endParaRPr lang="en-US" sz="1150" dirty="0"/>
          </a:p>
        </p:txBody>
      </p:sp>
      <p:sp>
        <p:nvSpPr>
          <p:cNvPr id="38" name="Text 2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Swimlane Process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request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/ Services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persist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events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Console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63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596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8" name="Text 6"/>
          <p:cNvSpPr/>
          <p:nvPr/>
        </p:nvSpPr>
        <p:spPr>
          <a:xfrm>
            <a:off x="3596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11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644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1" name="Text 9"/>
          <p:cNvSpPr/>
          <p:nvPr/>
        </p:nvSpPr>
        <p:spPr>
          <a:xfrm>
            <a:off x="6644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59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692640" y="19659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012169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607040" y="2514600"/>
            <a:ext cx="0" cy="3337560"/>
          </a:xfrm>
          <a:prstGeom prst="line">
            <a:avLst/>
          </a:prstGeom>
          <a:noFill/>
          <a:ln w="19050">
            <a:solidFill>
              <a:srgbClr val="D7DE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463040" y="2926080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463040" y="259689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 schedule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11040" y="3639312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511040" y="3310128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9040" y="4352544"/>
            <a:ext cx="3048000" cy="0"/>
          </a:xfrm>
          <a:prstGeom prst="line">
            <a:avLst/>
          </a:prstGeom>
          <a:noFill/>
          <a:ln w="25400">
            <a:solidFill>
              <a:srgbClr val="1B6CD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559040" y="4023360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6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task.command · defer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607040" y="5065776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559040" y="4736592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done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59040" y="5779008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511040" y="5449824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→ resolve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11040" y="6492240"/>
            <a:ext cx="-30480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463040" y="6163056"/>
            <a:ext cx="304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Kanban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Backlog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6334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SLAs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5478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1" name="Text 9"/>
          <p:cNvSpPr/>
          <p:nvPr/>
        </p:nvSpPr>
        <p:spPr>
          <a:xfrm>
            <a:off x="978408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62272"/>
            <a:ext cx="54864" cy="777240"/>
          </a:xfrm>
          <a:prstGeom prst="rect">
            <a:avLst/>
          </a:prstGeom>
          <a:solidFill>
            <a:srgbClr val="5C6B82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557016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57016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57016" y="26334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57016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57016" y="3547872"/>
            <a:ext cx="54864" cy="7772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22" name="Text 20"/>
          <p:cNvSpPr/>
          <p:nvPr/>
        </p:nvSpPr>
        <p:spPr>
          <a:xfrm>
            <a:off x="3758184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Text 22"/>
          <p:cNvSpPr/>
          <p:nvPr/>
        </p:nvSpPr>
        <p:spPr>
          <a:xfrm>
            <a:off x="6336792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36792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36792" y="26334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schema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36792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36792" y="3547872"/>
            <a:ext cx="54864" cy="77724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9116568" y="1920240"/>
            <a:ext cx="2615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16568" y="26334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16568" y="26334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5" name="Text 33"/>
          <p:cNvSpPr/>
          <p:nvPr/>
        </p:nvSpPr>
        <p:spPr>
          <a:xfrm>
            <a:off x="9317736" y="26334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16568" y="35478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16568" y="35478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8" name="Text 36"/>
          <p:cNvSpPr/>
          <p:nvPr/>
        </p:nvSpPr>
        <p:spPr>
          <a:xfrm>
            <a:off x="9317736" y="35478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base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16568" y="4462272"/>
            <a:ext cx="2615184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16568" y="4462272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41" name="Text 39"/>
          <p:cNvSpPr/>
          <p:nvPr/>
        </p:nvSpPr>
        <p:spPr>
          <a:xfrm>
            <a:off x="9317736" y="4462272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325880" y="2286000"/>
            <a:ext cx="8339328" cy="0"/>
          </a:xfrm>
          <a:prstGeom prst="line">
            <a:avLst/>
          </a:prstGeom>
          <a:noFill/>
          <a:ln w="25400">
            <a:solidFill>
              <a:srgbClr val="D7DEE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05840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scaffold, data contract, mock adapter.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57016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9896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3739896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85616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85616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+ Build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785616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graph, task templates, drag-and-drop builder.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36792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36792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519672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65392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5392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granular re-run, audit trail.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16568" y="2926080"/>
            <a:ext cx="261518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16568" y="2926080"/>
            <a:ext cx="2615184" cy="64008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28" name="Shape 26"/>
          <p:cNvSpPr/>
          <p:nvPr/>
        </p:nvSpPr>
        <p:spPr>
          <a:xfrm>
            <a:off x="9299448" y="1965960"/>
            <a:ext cx="640080" cy="640080"/>
          </a:xfrm>
          <a:prstGeom prst="ellipse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9299448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345168" y="3127248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3438144"/>
            <a:ext cx="21579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+ GA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345168" y="3931920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engine &amp; controller; SSO, RBAC, multi-tenancy.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Milestone Timeline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097280" y="3931920"/>
            <a:ext cx="9997135" cy="0"/>
          </a:xfrm>
          <a:prstGeom prst="line">
            <a:avLst/>
          </a:prstGeom>
          <a:noFill/>
          <a:ln w="38100">
            <a:solidFill>
              <a:srgbClr val="012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&amp; team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7692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2164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82164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5" name="Text 13"/>
          <p:cNvSpPr/>
          <p:nvPr/>
        </p:nvSpPr>
        <p:spPr>
          <a:xfrm>
            <a:off x="26821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82164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682164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96564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76976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1448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181448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448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81448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181448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rollout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76259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731" y="434340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731" y="434340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731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731" y="47274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80731" y="5093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131" y="393192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5543" y="3813048"/>
            <a:ext cx="237744" cy="237744"/>
          </a:xfrm>
          <a:prstGeom prst="ellipse">
            <a:avLst/>
          </a:prstGeom>
          <a:solidFill>
            <a:srgbClr val="E3183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80015" y="2377440"/>
            <a:ext cx="1828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180015" y="2377440"/>
            <a:ext cx="1828800" cy="54864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Text 34"/>
          <p:cNvSpPr/>
          <p:nvPr/>
        </p:nvSpPr>
        <p:spPr>
          <a:xfrm>
            <a:off x="10180015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80015" y="27614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180015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094415" y="3520440"/>
            <a:ext cx="0" cy="41148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Stakeholders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03224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5832" y="2596896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3184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3184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79496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2104" y="2596896"/>
            <a:ext cx="694944" cy="6949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59456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959456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55768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596896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35728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135728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2040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48" y="2596896"/>
            <a:ext cx="694944" cy="6949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120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20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Lead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808312" y="2286000"/>
            <a:ext cx="1280160" cy="1280160"/>
          </a:xfrm>
          <a:prstGeom prst="ellipse">
            <a:avLst/>
          </a:prstGeom>
          <a:solidFill>
            <a:srgbClr val="012169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920" y="2596896"/>
            <a:ext cx="694944" cy="6949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88272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Surname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488272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Logo Library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software-industry brand logos — copy any tile into your diagrams.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854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3794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1854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6537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89864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2185416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2608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95935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28" y="2185416"/>
            <a:ext cx="475488" cy="4754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8678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02005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185416"/>
            <a:ext cx="475488" cy="4754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4748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6080760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185416"/>
            <a:ext cx="475488" cy="4754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08192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900" dirty="0"/>
          </a:p>
        </p:txBody>
      </p:sp>
      <p:sp>
        <p:nvSpPr>
          <p:cNvPr id="23" name="Shape 15"/>
          <p:cNvSpPr/>
          <p:nvPr/>
        </p:nvSpPr>
        <p:spPr>
          <a:xfrm>
            <a:off x="7141464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85416"/>
            <a:ext cx="475488" cy="47548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68896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900" dirty="0"/>
          </a:p>
        </p:txBody>
      </p:sp>
      <p:sp>
        <p:nvSpPr>
          <p:cNvPr id="26" name="Shape 17"/>
          <p:cNvSpPr/>
          <p:nvPr/>
        </p:nvSpPr>
        <p:spPr>
          <a:xfrm>
            <a:off x="8202168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344" y="2185416"/>
            <a:ext cx="475488" cy="4754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229600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</a:t>
            </a:r>
            <a:endParaRPr lang="en-US" sz="900" dirty="0"/>
          </a:p>
        </p:txBody>
      </p:sp>
      <p:sp>
        <p:nvSpPr>
          <p:cNvPr id="29" name="Shape 19"/>
          <p:cNvSpPr/>
          <p:nvPr/>
        </p:nvSpPr>
        <p:spPr>
          <a:xfrm>
            <a:off x="9262872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8048" y="2185416"/>
            <a:ext cx="475488" cy="47548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290304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0323576" y="2057400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88752" y="2185416"/>
            <a:ext cx="475488" cy="475488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10351008" y="269748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</a:t>
            </a:r>
            <a:endParaRPr lang="en-US" sz="900" dirty="0"/>
          </a:p>
        </p:txBody>
      </p:sp>
      <p:sp>
        <p:nvSpPr>
          <p:cNvPr id="35" name="Shape 23"/>
          <p:cNvSpPr/>
          <p:nvPr/>
        </p:nvSpPr>
        <p:spPr>
          <a:xfrm>
            <a:off x="77724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416" y="3300984"/>
            <a:ext cx="475488" cy="475488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80467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38" name="Shape 25"/>
          <p:cNvSpPr/>
          <p:nvPr/>
        </p:nvSpPr>
        <p:spPr>
          <a:xfrm>
            <a:off x="183794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03120" y="3300984"/>
            <a:ext cx="475488" cy="475488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186537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900" dirty="0"/>
          </a:p>
        </p:txBody>
      </p:sp>
      <p:sp>
        <p:nvSpPr>
          <p:cNvPr id="41" name="Shape 27"/>
          <p:cNvSpPr/>
          <p:nvPr/>
        </p:nvSpPr>
        <p:spPr>
          <a:xfrm>
            <a:off x="289864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63824" y="3300984"/>
            <a:ext cx="475488" cy="47548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292608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900" dirty="0"/>
          </a:p>
        </p:txBody>
      </p:sp>
      <p:sp>
        <p:nvSpPr>
          <p:cNvPr id="44" name="Shape 29"/>
          <p:cNvSpPr/>
          <p:nvPr/>
        </p:nvSpPr>
        <p:spPr>
          <a:xfrm>
            <a:off x="395935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24528" y="3300984"/>
            <a:ext cx="475488" cy="475488"/>
          </a:xfrm>
          <a:prstGeom prst="rect">
            <a:avLst/>
          </a:prstGeom>
        </p:spPr>
      </p:pic>
      <p:sp>
        <p:nvSpPr>
          <p:cNvPr id="46" name="Text 30"/>
          <p:cNvSpPr/>
          <p:nvPr/>
        </p:nvSpPr>
        <p:spPr>
          <a:xfrm>
            <a:off x="398678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00" dirty="0"/>
          </a:p>
        </p:txBody>
      </p:sp>
      <p:sp>
        <p:nvSpPr>
          <p:cNvPr id="47" name="Shape 31"/>
          <p:cNvSpPr/>
          <p:nvPr/>
        </p:nvSpPr>
        <p:spPr>
          <a:xfrm>
            <a:off x="502005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4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5232" y="3300984"/>
            <a:ext cx="475488" cy="475488"/>
          </a:xfrm>
          <a:prstGeom prst="rect">
            <a:avLst/>
          </a:prstGeom>
        </p:spPr>
      </p:pic>
      <p:sp>
        <p:nvSpPr>
          <p:cNvPr id="49" name="Text 32"/>
          <p:cNvSpPr/>
          <p:nvPr/>
        </p:nvSpPr>
        <p:spPr>
          <a:xfrm>
            <a:off x="504748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900" dirty="0"/>
          </a:p>
        </p:txBody>
      </p:sp>
      <p:sp>
        <p:nvSpPr>
          <p:cNvPr id="50" name="Shape 33"/>
          <p:cNvSpPr/>
          <p:nvPr/>
        </p:nvSpPr>
        <p:spPr>
          <a:xfrm>
            <a:off x="6080760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1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45936" y="3300984"/>
            <a:ext cx="475488" cy="475488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6108192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00" dirty="0"/>
          </a:p>
        </p:txBody>
      </p:sp>
      <p:sp>
        <p:nvSpPr>
          <p:cNvPr id="53" name="Shape 35"/>
          <p:cNvSpPr/>
          <p:nvPr/>
        </p:nvSpPr>
        <p:spPr>
          <a:xfrm>
            <a:off x="7141464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4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06640" y="3300984"/>
            <a:ext cx="475488" cy="475488"/>
          </a:xfrm>
          <a:prstGeom prst="rect">
            <a:avLst/>
          </a:prstGeom>
        </p:spPr>
      </p:pic>
      <p:sp>
        <p:nvSpPr>
          <p:cNvPr id="55" name="Text 36"/>
          <p:cNvSpPr/>
          <p:nvPr/>
        </p:nvSpPr>
        <p:spPr>
          <a:xfrm>
            <a:off x="7168896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56" name="Shape 37"/>
          <p:cNvSpPr/>
          <p:nvPr/>
        </p:nvSpPr>
        <p:spPr>
          <a:xfrm>
            <a:off x="8202168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67344" y="3300984"/>
            <a:ext cx="475488" cy="475488"/>
          </a:xfrm>
          <a:prstGeom prst="rect">
            <a:avLst/>
          </a:prstGeom>
        </p:spPr>
      </p:pic>
      <p:sp>
        <p:nvSpPr>
          <p:cNvPr id="58" name="Text 38"/>
          <p:cNvSpPr/>
          <p:nvPr/>
        </p:nvSpPr>
        <p:spPr>
          <a:xfrm>
            <a:off x="8229600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59" name="Shape 39"/>
          <p:cNvSpPr/>
          <p:nvPr/>
        </p:nvSpPr>
        <p:spPr>
          <a:xfrm>
            <a:off x="9262872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528048" y="3300984"/>
            <a:ext cx="475488" cy="475488"/>
          </a:xfrm>
          <a:prstGeom prst="rect">
            <a:avLst/>
          </a:prstGeom>
        </p:spPr>
      </p:pic>
      <p:sp>
        <p:nvSpPr>
          <p:cNvPr id="61" name="Text 40"/>
          <p:cNvSpPr/>
          <p:nvPr/>
        </p:nvSpPr>
        <p:spPr>
          <a:xfrm>
            <a:off x="9290304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</a:t>
            </a:r>
            <a:endParaRPr lang="en-US" sz="900" dirty="0"/>
          </a:p>
        </p:txBody>
      </p:sp>
      <p:sp>
        <p:nvSpPr>
          <p:cNvPr id="62" name="Shape 41"/>
          <p:cNvSpPr/>
          <p:nvPr/>
        </p:nvSpPr>
        <p:spPr>
          <a:xfrm>
            <a:off x="10323576" y="3172968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88752" y="3300984"/>
            <a:ext cx="475488" cy="475488"/>
          </a:xfrm>
          <a:prstGeom prst="rect">
            <a:avLst/>
          </a:prstGeom>
        </p:spPr>
      </p:pic>
      <p:sp>
        <p:nvSpPr>
          <p:cNvPr id="64" name="Text 42"/>
          <p:cNvSpPr/>
          <p:nvPr/>
        </p:nvSpPr>
        <p:spPr>
          <a:xfrm>
            <a:off x="10351008" y="3813048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900" dirty="0"/>
          </a:p>
        </p:txBody>
      </p:sp>
      <p:sp>
        <p:nvSpPr>
          <p:cNvPr id="65" name="Shape 43"/>
          <p:cNvSpPr/>
          <p:nvPr/>
        </p:nvSpPr>
        <p:spPr>
          <a:xfrm>
            <a:off x="77724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2416" y="4416552"/>
            <a:ext cx="475488" cy="475488"/>
          </a:xfrm>
          <a:prstGeom prst="rect">
            <a:avLst/>
          </a:prstGeom>
        </p:spPr>
      </p:pic>
      <p:sp>
        <p:nvSpPr>
          <p:cNvPr id="67" name="Text 44"/>
          <p:cNvSpPr/>
          <p:nvPr/>
        </p:nvSpPr>
        <p:spPr>
          <a:xfrm>
            <a:off x="80467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68" name="Shape 45"/>
          <p:cNvSpPr/>
          <p:nvPr/>
        </p:nvSpPr>
        <p:spPr>
          <a:xfrm>
            <a:off x="183794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03120" y="4416552"/>
            <a:ext cx="475488" cy="475488"/>
          </a:xfrm>
          <a:prstGeom prst="rect">
            <a:avLst/>
          </a:prstGeom>
        </p:spPr>
      </p:pic>
      <p:sp>
        <p:nvSpPr>
          <p:cNvPr id="70" name="Text 46"/>
          <p:cNvSpPr/>
          <p:nvPr/>
        </p:nvSpPr>
        <p:spPr>
          <a:xfrm>
            <a:off x="186537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00" dirty="0"/>
          </a:p>
        </p:txBody>
      </p:sp>
      <p:sp>
        <p:nvSpPr>
          <p:cNvPr id="71" name="Shape 47"/>
          <p:cNvSpPr/>
          <p:nvPr/>
        </p:nvSpPr>
        <p:spPr>
          <a:xfrm>
            <a:off x="289864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63824" y="4416552"/>
            <a:ext cx="475488" cy="475488"/>
          </a:xfrm>
          <a:prstGeom prst="rect">
            <a:avLst/>
          </a:prstGeom>
        </p:spPr>
      </p:pic>
      <p:sp>
        <p:nvSpPr>
          <p:cNvPr id="73" name="Text 48"/>
          <p:cNvSpPr/>
          <p:nvPr/>
        </p:nvSpPr>
        <p:spPr>
          <a:xfrm>
            <a:off x="292608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74" name="Shape 49"/>
          <p:cNvSpPr/>
          <p:nvPr/>
        </p:nvSpPr>
        <p:spPr>
          <a:xfrm>
            <a:off x="395935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24528" y="4416552"/>
            <a:ext cx="475488" cy="475488"/>
          </a:xfrm>
          <a:prstGeom prst="rect">
            <a:avLst/>
          </a:prstGeom>
        </p:spPr>
      </p:pic>
      <p:sp>
        <p:nvSpPr>
          <p:cNvPr id="76" name="Text 50"/>
          <p:cNvSpPr/>
          <p:nvPr/>
        </p:nvSpPr>
        <p:spPr>
          <a:xfrm>
            <a:off x="398678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00" dirty="0"/>
          </a:p>
        </p:txBody>
      </p:sp>
      <p:sp>
        <p:nvSpPr>
          <p:cNvPr id="77" name="Shape 51"/>
          <p:cNvSpPr/>
          <p:nvPr/>
        </p:nvSpPr>
        <p:spPr>
          <a:xfrm>
            <a:off x="502005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78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285232" y="4416552"/>
            <a:ext cx="475488" cy="475488"/>
          </a:xfrm>
          <a:prstGeom prst="rect">
            <a:avLst/>
          </a:prstGeom>
        </p:spPr>
      </p:pic>
      <p:sp>
        <p:nvSpPr>
          <p:cNvPr id="79" name="Text 52"/>
          <p:cNvSpPr/>
          <p:nvPr/>
        </p:nvSpPr>
        <p:spPr>
          <a:xfrm>
            <a:off x="504748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00" dirty="0"/>
          </a:p>
        </p:txBody>
      </p:sp>
      <p:sp>
        <p:nvSpPr>
          <p:cNvPr id="80" name="Shape 53"/>
          <p:cNvSpPr/>
          <p:nvPr/>
        </p:nvSpPr>
        <p:spPr>
          <a:xfrm>
            <a:off x="6080760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1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45936" y="4416552"/>
            <a:ext cx="475488" cy="475488"/>
          </a:xfrm>
          <a:prstGeom prst="rect">
            <a:avLst/>
          </a:prstGeom>
        </p:spPr>
      </p:pic>
      <p:sp>
        <p:nvSpPr>
          <p:cNvPr id="82" name="Text 54"/>
          <p:cNvSpPr/>
          <p:nvPr/>
        </p:nvSpPr>
        <p:spPr>
          <a:xfrm>
            <a:off x="6108192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83" name="Shape 55"/>
          <p:cNvSpPr/>
          <p:nvPr/>
        </p:nvSpPr>
        <p:spPr>
          <a:xfrm>
            <a:off x="7141464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4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06640" y="4416552"/>
            <a:ext cx="475488" cy="475488"/>
          </a:xfrm>
          <a:prstGeom prst="rect">
            <a:avLst/>
          </a:prstGeom>
        </p:spPr>
      </p:pic>
      <p:sp>
        <p:nvSpPr>
          <p:cNvPr id="85" name="Text 56"/>
          <p:cNvSpPr/>
          <p:nvPr/>
        </p:nvSpPr>
        <p:spPr>
          <a:xfrm>
            <a:off x="7168896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86" name="Shape 57"/>
          <p:cNvSpPr/>
          <p:nvPr/>
        </p:nvSpPr>
        <p:spPr>
          <a:xfrm>
            <a:off x="8202168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87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467344" y="4416552"/>
            <a:ext cx="475488" cy="475488"/>
          </a:xfrm>
          <a:prstGeom prst="rect">
            <a:avLst/>
          </a:prstGeom>
        </p:spPr>
      </p:pic>
      <p:sp>
        <p:nvSpPr>
          <p:cNvPr id="88" name="Text 58"/>
          <p:cNvSpPr/>
          <p:nvPr/>
        </p:nvSpPr>
        <p:spPr>
          <a:xfrm>
            <a:off x="8229600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00" dirty="0"/>
          </a:p>
        </p:txBody>
      </p:sp>
      <p:sp>
        <p:nvSpPr>
          <p:cNvPr id="89" name="Shape 59"/>
          <p:cNvSpPr/>
          <p:nvPr/>
        </p:nvSpPr>
        <p:spPr>
          <a:xfrm>
            <a:off x="9262872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528048" y="4416552"/>
            <a:ext cx="475488" cy="475488"/>
          </a:xfrm>
          <a:prstGeom prst="rect">
            <a:avLst/>
          </a:prstGeom>
        </p:spPr>
      </p:pic>
      <p:sp>
        <p:nvSpPr>
          <p:cNvPr id="91" name="Text 60"/>
          <p:cNvSpPr/>
          <p:nvPr/>
        </p:nvSpPr>
        <p:spPr>
          <a:xfrm>
            <a:off x="9290304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900" dirty="0"/>
          </a:p>
        </p:txBody>
      </p:sp>
      <p:sp>
        <p:nvSpPr>
          <p:cNvPr id="92" name="Shape 61"/>
          <p:cNvSpPr/>
          <p:nvPr/>
        </p:nvSpPr>
        <p:spPr>
          <a:xfrm>
            <a:off x="10323576" y="4288536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588752" y="4416552"/>
            <a:ext cx="475488" cy="475488"/>
          </a:xfrm>
          <a:prstGeom prst="rect">
            <a:avLst/>
          </a:prstGeom>
        </p:spPr>
      </p:pic>
      <p:sp>
        <p:nvSpPr>
          <p:cNvPr id="94" name="Text 62"/>
          <p:cNvSpPr/>
          <p:nvPr/>
        </p:nvSpPr>
        <p:spPr>
          <a:xfrm>
            <a:off x="10351008" y="4928616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900" dirty="0"/>
          </a:p>
        </p:txBody>
      </p:sp>
      <p:sp>
        <p:nvSpPr>
          <p:cNvPr id="95" name="Shape 63"/>
          <p:cNvSpPr/>
          <p:nvPr/>
        </p:nvSpPr>
        <p:spPr>
          <a:xfrm>
            <a:off x="777240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6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42416" y="5532120"/>
            <a:ext cx="475488" cy="475488"/>
          </a:xfrm>
          <a:prstGeom prst="rect">
            <a:avLst/>
          </a:prstGeom>
        </p:spPr>
      </p:pic>
      <p:sp>
        <p:nvSpPr>
          <p:cNvPr id="97" name="Text 64"/>
          <p:cNvSpPr/>
          <p:nvPr/>
        </p:nvSpPr>
        <p:spPr>
          <a:xfrm>
            <a:off x="804672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</a:t>
            </a:r>
            <a:endParaRPr lang="en-US" sz="900" dirty="0"/>
          </a:p>
        </p:txBody>
      </p:sp>
      <p:sp>
        <p:nvSpPr>
          <p:cNvPr id="98" name="Shape 65"/>
          <p:cNvSpPr/>
          <p:nvPr/>
        </p:nvSpPr>
        <p:spPr>
          <a:xfrm>
            <a:off x="1837944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99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03120" y="5532120"/>
            <a:ext cx="475488" cy="475488"/>
          </a:xfrm>
          <a:prstGeom prst="rect">
            <a:avLst/>
          </a:prstGeom>
        </p:spPr>
      </p:pic>
      <p:sp>
        <p:nvSpPr>
          <p:cNvPr id="100" name="Text 66"/>
          <p:cNvSpPr/>
          <p:nvPr/>
        </p:nvSpPr>
        <p:spPr>
          <a:xfrm>
            <a:off x="1865376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00" dirty="0"/>
          </a:p>
        </p:txBody>
      </p:sp>
      <p:sp>
        <p:nvSpPr>
          <p:cNvPr id="101" name="Shape 67"/>
          <p:cNvSpPr/>
          <p:nvPr/>
        </p:nvSpPr>
        <p:spPr>
          <a:xfrm>
            <a:off x="2898648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2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163824" y="5532120"/>
            <a:ext cx="475488" cy="475488"/>
          </a:xfrm>
          <a:prstGeom prst="rect">
            <a:avLst/>
          </a:prstGeom>
        </p:spPr>
      </p:pic>
      <p:sp>
        <p:nvSpPr>
          <p:cNvPr id="103" name="Text 68"/>
          <p:cNvSpPr/>
          <p:nvPr/>
        </p:nvSpPr>
        <p:spPr>
          <a:xfrm>
            <a:off x="2926080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endParaRPr lang="en-US" sz="900" dirty="0"/>
          </a:p>
        </p:txBody>
      </p:sp>
      <p:sp>
        <p:nvSpPr>
          <p:cNvPr id="104" name="Shape 69"/>
          <p:cNvSpPr/>
          <p:nvPr/>
        </p:nvSpPr>
        <p:spPr>
          <a:xfrm>
            <a:off x="3959352" y="5404104"/>
            <a:ext cx="1005840" cy="1024128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pic>
        <p:nvPicPr>
          <p:cNvPr id="10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224528" y="5532120"/>
            <a:ext cx="475488" cy="475488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3986784" y="6044184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07" name="Text 71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Concept Icons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building blocks for system diagrams — recolor and reuse freely.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525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3134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1343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144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31343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3522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9624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977640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313432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71416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385816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513832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704" y="2313432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07608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922008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050024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8896" y="2313432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43800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8458200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8586216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313432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079992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9994392" y="205740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10122408" y="219456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313432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616184" y="205740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77724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0525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128" y="3136392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39903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50" dirty="0"/>
          </a:p>
        </p:txBody>
      </p:sp>
      <p:sp>
        <p:nvSpPr>
          <p:cNvPr id="37" name="Shape 27"/>
          <p:cNvSpPr/>
          <p:nvPr/>
        </p:nvSpPr>
        <p:spPr>
          <a:xfrm>
            <a:off x="231343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244144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" y="3136392"/>
            <a:ext cx="219456" cy="21945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293522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3849624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977640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6512" y="3136392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471416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50" dirty="0"/>
          </a:p>
        </p:txBody>
      </p:sp>
      <p:sp>
        <p:nvSpPr>
          <p:cNvPr id="45" name="Shape 33"/>
          <p:cNvSpPr/>
          <p:nvPr/>
        </p:nvSpPr>
        <p:spPr>
          <a:xfrm>
            <a:off x="5385816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46" name="Shape 34"/>
          <p:cNvSpPr/>
          <p:nvPr/>
        </p:nvSpPr>
        <p:spPr>
          <a:xfrm>
            <a:off x="5513832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2704" y="3136392"/>
            <a:ext cx="219456" cy="219456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6007608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49" name="Shape 36"/>
          <p:cNvSpPr/>
          <p:nvPr/>
        </p:nvSpPr>
        <p:spPr>
          <a:xfrm>
            <a:off x="6922008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0" name="Shape 37"/>
          <p:cNvSpPr/>
          <p:nvPr/>
        </p:nvSpPr>
        <p:spPr>
          <a:xfrm>
            <a:off x="7050024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8896" y="3136392"/>
            <a:ext cx="219456" cy="219456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43800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950" dirty="0"/>
          </a:p>
        </p:txBody>
      </p:sp>
      <p:sp>
        <p:nvSpPr>
          <p:cNvPr id="53" name="Shape 39"/>
          <p:cNvSpPr/>
          <p:nvPr/>
        </p:nvSpPr>
        <p:spPr>
          <a:xfrm>
            <a:off x="8458200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4" name="Shape 40"/>
          <p:cNvSpPr/>
          <p:nvPr/>
        </p:nvSpPr>
        <p:spPr>
          <a:xfrm>
            <a:off x="8586216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5088" y="3136392"/>
            <a:ext cx="219456" cy="219456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9079992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57" name="Shape 42"/>
          <p:cNvSpPr/>
          <p:nvPr/>
        </p:nvSpPr>
        <p:spPr>
          <a:xfrm>
            <a:off x="9994392" y="288036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58" name="Shape 43"/>
          <p:cNvSpPr/>
          <p:nvPr/>
        </p:nvSpPr>
        <p:spPr>
          <a:xfrm>
            <a:off x="10122408" y="301752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1280" y="3136392"/>
            <a:ext cx="219456" cy="219456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0616184" y="288036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</p:txBody>
      </p:sp>
      <p:sp>
        <p:nvSpPr>
          <p:cNvPr id="61" name="Shape 45"/>
          <p:cNvSpPr/>
          <p:nvPr/>
        </p:nvSpPr>
        <p:spPr>
          <a:xfrm>
            <a:off x="77724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90525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4128" y="3959352"/>
            <a:ext cx="219456" cy="219456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39903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50" dirty="0"/>
          </a:p>
        </p:txBody>
      </p:sp>
      <p:sp>
        <p:nvSpPr>
          <p:cNvPr id="65" name="Shape 48"/>
          <p:cNvSpPr/>
          <p:nvPr/>
        </p:nvSpPr>
        <p:spPr>
          <a:xfrm>
            <a:off x="231343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6" name="Shape 49"/>
          <p:cNvSpPr/>
          <p:nvPr/>
        </p:nvSpPr>
        <p:spPr>
          <a:xfrm>
            <a:off x="244144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6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60320" y="3959352"/>
            <a:ext cx="219456" cy="219456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293522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69" name="Shape 51"/>
          <p:cNvSpPr/>
          <p:nvPr/>
        </p:nvSpPr>
        <p:spPr>
          <a:xfrm>
            <a:off x="3849624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0" name="Shape 52"/>
          <p:cNvSpPr/>
          <p:nvPr/>
        </p:nvSpPr>
        <p:spPr>
          <a:xfrm>
            <a:off x="3977640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1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96512" y="3959352"/>
            <a:ext cx="219456" cy="219456"/>
          </a:xfrm>
          <a:prstGeom prst="rect">
            <a:avLst/>
          </a:prstGeom>
        </p:spPr>
      </p:pic>
      <p:sp>
        <p:nvSpPr>
          <p:cNvPr id="72" name="Text 53"/>
          <p:cNvSpPr/>
          <p:nvPr/>
        </p:nvSpPr>
        <p:spPr>
          <a:xfrm>
            <a:off x="4471416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950" dirty="0"/>
          </a:p>
        </p:txBody>
      </p:sp>
      <p:sp>
        <p:nvSpPr>
          <p:cNvPr id="73" name="Shape 54"/>
          <p:cNvSpPr/>
          <p:nvPr/>
        </p:nvSpPr>
        <p:spPr>
          <a:xfrm>
            <a:off x="5385816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4" name="Shape 55"/>
          <p:cNvSpPr/>
          <p:nvPr/>
        </p:nvSpPr>
        <p:spPr>
          <a:xfrm>
            <a:off x="5513832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5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32704" y="3959352"/>
            <a:ext cx="219456" cy="219456"/>
          </a:xfrm>
          <a:prstGeom prst="rect">
            <a:avLst/>
          </a:prstGeom>
        </p:spPr>
      </p:pic>
      <p:sp>
        <p:nvSpPr>
          <p:cNvPr id="76" name="Text 56"/>
          <p:cNvSpPr/>
          <p:nvPr/>
        </p:nvSpPr>
        <p:spPr>
          <a:xfrm>
            <a:off x="6007608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950" dirty="0"/>
          </a:p>
        </p:txBody>
      </p:sp>
      <p:sp>
        <p:nvSpPr>
          <p:cNvPr id="77" name="Shape 57"/>
          <p:cNvSpPr/>
          <p:nvPr/>
        </p:nvSpPr>
        <p:spPr>
          <a:xfrm>
            <a:off x="6922008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7050024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68896" y="3959352"/>
            <a:ext cx="219456" cy="219456"/>
          </a:xfrm>
          <a:prstGeom prst="rect">
            <a:avLst/>
          </a:prstGeom>
        </p:spPr>
      </p:pic>
      <p:sp>
        <p:nvSpPr>
          <p:cNvPr id="80" name="Text 59"/>
          <p:cNvSpPr/>
          <p:nvPr/>
        </p:nvSpPr>
        <p:spPr>
          <a:xfrm>
            <a:off x="7543800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81" name="Shape 60"/>
          <p:cNvSpPr/>
          <p:nvPr/>
        </p:nvSpPr>
        <p:spPr>
          <a:xfrm>
            <a:off x="8458200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8586216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3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3959352"/>
            <a:ext cx="219456" cy="219456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9079992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</p:txBody>
      </p:sp>
      <p:sp>
        <p:nvSpPr>
          <p:cNvPr id="85" name="Shape 63"/>
          <p:cNvSpPr/>
          <p:nvPr/>
        </p:nvSpPr>
        <p:spPr>
          <a:xfrm>
            <a:off x="9994392" y="370332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6" name="Shape 64"/>
          <p:cNvSpPr/>
          <p:nvPr/>
        </p:nvSpPr>
        <p:spPr>
          <a:xfrm>
            <a:off x="10122408" y="384048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87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41280" y="3959352"/>
            <a:ext cx="219456" cy="219456"/>
          </a:xfrm>
          <a:prstGeom prst="rect">
            <a:avLst/>
          </a:prstGeom>
        </p:spPr>
      </p:pic>
      <p:sp>
        <p:nvSpPr>
          <p:cNvPr id="88" name="Text 65"/>
          <p:cNvSpPr/>
          <p:nvPr/>
        </p:nvSpPr>
        <p:spPr>
          <a:xfrm>
            <a:off x="10616184" y="370332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950" dirty="0"/>
          </a:p>
        </p:txBody>
      </p:sp>
      <p:sp>
        <p:nvSpPr>
          <p:cNvPr id="89" name="Shape 66"/>
          <p:cNvSpPr/>
          <p:nvPr/>
        </p:nvSpPr>
        <p:spPr>
          <a:xfrm>
            <a:off x="77724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0" name="Shape 67"/>
          <p:cNvSpPr/>
          <p:nvPr/>
        </p:nvSpPr>
        <p:spPr>
          <a:xfrm>
            <a:off x="90525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1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24128" y="4782312"/>
            <a:ext cx="219456" cy="219456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139903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50" dirty="0"/>
          </a:p>
        </p:txBody>
      </p:sp>
      <p:sp>
        <p:nvSpPr>
          <p:cNvPr id="93" name="Shape 69"/>
          <p:cNvSpPr/>
          <p:nvPr/>
        </p:nvSpPr>
        <p:spPr>
          <a:xfrm>
            <a:off x="231343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4" name="Shape 70"/>
          <p:cNvSpPr/>
          <p:nvPr/>
        </p:nvSpPr>
        <p:spPr>
          <a:xfrm>
            <a:off x="244144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5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560320" y="4782312"/>
            <a:ext cx="219456" cy="219456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293522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97" name="Shape 72"/>
          <p:cNvSpPr/>
          <p:nvPr/>
        </p:nvSpPr>
        <p:spPr>
          <a:xfrm>
            <a:off x="3849624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8" name="Shape 73"/>
          <p:cNvSpPr/>
          <p:nvPr/>
        </p:nvSpPr>
        <p:spPr>
          <a:xfrm>
            <a:off x="3977640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99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96512" y="4782312"/>
            <a:ext cx="219456" cy="219456"/>
          </a:xfrm>
          <a:prstGeom prst="rect">
            <a:avLst/>
          </a:prstGeom>
        </p:spPr>
      </p:pic>
      <p:sp>
        <p:nvSpPr>
          <p:cNvPr id="100" name="Text 74"/>
          <p:cNvSpPr/>
          <p:nvPr/>
        </p:nvSpPr>
        <p:spPr>
          <a:xfrm>
            <a:off x="4471416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101" name="Shape 75"/>
          <p:cNvSpPr/>
          <p:nvPr/>
        </p:nvSpPr>
        <p:spPr>
          <a:xfrm>
            <a:off x="5385816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2" name="Shape 76"/>
          <p:cNvSpPr/>
          <p:nvPr/>
        </p:nvSpPr>
        <p:spPr>
          <a:xfrm>
            <a:off x="5513832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3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32704" y="4782312"/>
            <a:ext cx="219456" cy="219456"/>
          </a:xfrm>
          <a:prstGeom prst="rect">
            <a:avLst/>
          </a:prstGeom>
        </p:spPr>
      </p:pic>
      <p:sp>
        <p:nvSpPr>
          <p:cNvPr id="104" name="Text 77"/>
          <p:cNvSpPr/>
          <p:nvPr/>
        </p:nvSpPr>
        <p:spPr>
          <a:xfrm>
            <a:off x="6007608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105" name="Shape 78"/>
          <p:cNvSpPr/>
          <p:nvPr/>
        </p:nvSpPr>
        <p:spPr>
          <a:xfrm>
            <a:off x="6922008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6" name="Shape 79"/>
          <p:cNvSpPr/>
          <p:nvPr/>
        </p:nvSpPr>
        <p:spPr>
          <a:xfrm>
            <a:off x="7050024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0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168896" y="4782312"/>
            <a:ext cx="219456" cy="219456"/>
          </a:xfrm>
          <a:prstGeom prst="rect">
            <a:avLst/>
          </a:prstGeom>
        </p:spPr>
      </p:pic>
      <p:sp>
        <p:nvSpPr>
          <p:cNvPr id="108" name="Text 80"/>
          <p:cNvSpPr/>
          <p:nvPr/>
        </p:nvSpPr>
        <p:spPr>
          <a:xfrm>
            <a:off x="7543800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950" dirty="0"/>
          </a:p>
        </p:txBody>
      </p:sp>
      <p:sp>
        <p:nvSpPr>
          <p:cNvPr id="109" name="Shape 81"/>
          <p:cNvSpPr/>
          <p:nvPr/>
        </p:nvSpPr>
        <p:spPr>
          <a:xfrm>
            <a:off x="8458200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0" name="Shape 82"/>
          <p:cNvSpPr/>
          <p:nvPr/>
        </p:nvSpPr>
        <p:spPr>
          <a:xfrm>
            <a:off x="8586216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1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705088" y="4782312"/>
            <a:ext cx="219456" cy="219456"/>
          </a:xfrm>
          <a:prstGeom prst="rect">
            <a:avLst/>
          </a:prstGeom>
        </p:spPr>
      </p:pic>
      <p:sp>
        <p:nvSpPr>
          <p:cNvPr id="112" name="Text 83"/>
          <p:cNvSpPr/>
          <p:nvPr/>
        </p:nvSpPr>
        <p:spPr>
          <a:xfrm>
            <a:off x="9079992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13" name="Shape 84"/>
          <p:cNvSpPr/>
          <p:nvPr/>
        </p:nvSpPr>
        <p:spPr>
          <a:xfrm>
            <a:off x="9994392" y="45262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4" name="Shape 85"/>
          <p:cNvSpPr/>
          <p:nvPr/>
        </p:nvSpPr>
        <p:spPr>
          <a:xfrm>
            <a:off x="10122408" y="466344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5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241280" y="4782312"/>
            <a:ext cx="219456" cy="219456"/>
          </a:xfrm>
          <a:prstGeom prst="rect">
            <a:avLst/>
          </a:prstGeom>
        </p:spPr>
      </p:pic>
      <p:sp>
        <p:nvSpPr>
          <p:cNvPr id="116" name="Text 86"/>
          <p:cNvSpPr/>
          <p:nvPr/>
        </p:nvSpPr>
        <p:spPr>
          <a:xfrm>
            <a:off x="10616184" y="452628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17" name="Shape 87"/>
          <p:cNvSpPr/>
          <p:nvPr/>
        </p:nvSpPr>
        <p:spPr>
          <a:xfrm>
            <a:off x="77724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8" name="Shape 88"/>
          <p:cNvSpPr/>
          <p:nvPr/>
        </p:nvSpPr>
        <p:spPr>
          <a:xfrm>
            <a:off x="90525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19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" y="5605272"/>
            <a:ext cx="219456" cy="219456"/>
          </a:xfrm>
          <a:prstGeom prst="rect">
            <a:avLst/>
          </a:prstGeom>
        </p:spPr>
      </p:pic>
      <p:sp>
        <p:nvSpPr>
          <p:cNvPr id="120" name="Text 89"/>
          <p:cNvSpPr/>
          <p:nvPr/>
        </p:nvSpPr>
        <p:spPr>
          <a:xfrm>
            <a:off x="139903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121" name="Shape 90"/>
          <p:cNvSpPr/>
          <p:nvPr/>
        </p:nvSpPr>
        <p:spPr>
          <a:xfrm>
            <a:off x="231343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2" name="Shape 91"/>
          <p:cNvSpPr/>
          <p:nvPr/>
        </p:nvSpPr>
        <p:spPr>
          <a:xfrm>
            <a:off x="244144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3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60320" y="5605272"/>
            <a:ext cx="219456" cy="219456"/>
          </a:xfrm>
          <a:prstGeom prst="rect">
            <a:avLst/>
          </a:prstGeom>
        </p:spPr>
      </p:pic>
      <p:sp>
        <p:nvSpPr>
          <p:cNvPr id="124" name="Text 92"/>
          <p:cNvSpPr/>
          <p:nvPr/>
        </p:nvSpPr>
        <p:spPr>
          <a:xfrm>
            <a:off x="293522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950" dirty="0"/>
          </a:p>
        </p:txBody>
      </p:sp>
      <p:sp>
        <p:nvSpPr>
          <p:cNvPr id="125" name="Shape 93"/>
          <p:cNvSpPr/>
          <p:nvPr/>
        </p:nvSpPr>
        <p:spPr>
          <a:xfrm>
            <a:off x="3849624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6" name="Shape 94"/>
          <p:cNvSpPr/>
          <p:nvPr/>
        </p:nvSpPr>
        <p:spPr>
          <a:xfrm>
            <a:off x="3977640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27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096512" y="5605272"/>
            <a:ext cx="219456" cy="219456"/>
          </a:xfrm>
          <a:prstGeom prst="rect">
            <a:avLst/>
          </a:prstGeom>
        </p:spPr>
      </p:pic>
      <p:sp>
        <p:nvSpPr>
          <p:cNvPr id="128" name="Text 95"/>
          <p:cNvSpPr/>
          <p:nvPr/>
        </p:nvSpPr>
        <p:spPr>
          <a:xfrm>
            <a:off x="4471416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950" dirty="0"/>
          </a:p>
        </p:txBody>
      </p:sp>
      <p:sp>
        <p:nvSpPr>
          <p:cNvPr id="129" name="Shape 96"/>
          <p:cNvSpPr/>
          <p:nvPr/>
        </p:nvSpPr>
        <p:spPr>
          <a:xfrm>
            <a:off x="5385816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0" name="Shape 97"/>
          <p:cNvSpPr/>
          <p:nvPr/>
        </p:nvSpPr>
        <p:spPr>
          <a:xfrm>
            <a:off x="5513832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1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32704" y="5605272"/>
            <a:ext cx="219456" cy="219456"/>
          </a:xfrm>
          <a:prstGeom prst="rect">
            <a:avLst/>
          </a:prstGeom>
        </p:spPr>
      </p:pic>
      <p:sp>
        <p:nvSpPr>
          <p:cNvPr id="132" name="Text 98"/>
          <p:cNvSpPr/>
          <p:nvPr/>
        </p:nvSpPr>
        <p:spPr>
          <a:xfrm>
            <a:off x="6007608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50" dirty="0"/>
          </a:p>
        </p:txBody>
      </p:sp>
      <p:sp>
        <p:nvSpPr>
          <p:cNvPr id="133" name="Shape 99"/>
          <p:cNvSpPr/>
          <p:nvPr/>
        </p:nvSpPr>
        <p:spPr>
          <a:xfrm>
            <a:off x="6922008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4" name="Shape 100"/>
          <p:cNvSpPr/>
          <p:nvPr/>
        </p:nvSpPr>
        <p:spPr>
          <a:xfrm>
            <a:off x="7050024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5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168896" y="5605272"/>
            <a:ext cx="219456" cy="219456"/>
          </a:xfrm>
          <a:prstGeom prst="rect">
            <a:avLst/>
          </a:prstGeom>
        </p:spPr>
      </p:pic>
      <p:sp>
        <p:nvSpPr>
          <p:cNvPr id="136" name="Text 101"/>
          <p:cNvSpPr/>
          <p:nvPr/>
        </p:nvSpPr>
        <p:spPr>
          <a:xfrm>
            <a:off x="7543800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</p:txBody>
      </p:sp>
      <p:sp>
        <p:nvSpPr>
          <p:cNvPr id="137" name="Shape 102"/>
          <p:cNvSpPr/>
          <p:nvPr/>
        </p:nvSpPr>
        <p:spPr>
          <a:xfrm>
            <a:off x="8458200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8" name="Shape 103"/>
          <p:cNvSpPr/>
          <p:nvPr/>
        </p:nvSpPr>
        <p:spPr>
          <a:xfrm>
            <a:off x="8586216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39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705088" y="5605272"/>
            <a:ext cx="219456" cy="219456"/>
          </a:xfrm>
          <a:prstGeom prst="rect">
            <a:avLst/>
          </a:prstGeom>
        </p:spPr>
      </p:pic>
      <p:sp>
        <p:nvSpPr>
          <p:cNvPr id="140" name="Text 104"/>
          <p:cNvSpPr/>
          <p:nvPr/>
        </p:nvSpPr>
        <p:spPr>
          <a:xfrm>
            <a:off x="9079992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141" name="Shape 105"/>
          <p:cNvSpPr/>
          <p:nvPr/>
        </p:nvSpPr>
        <p:spPr>
          <a:xfrm>
            <a:off x="9994392" y="534924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2" name="Shape 106"/>
          <p:cNvSpPr/>
          <p:nvPr/>
        </p:nvSpPr>
        <p:spPr>
          <a:xfrm>
            <a:off x="10122408" y="5486400"/>
            <a:ext cx="457200" cy="457200"/>
          </a:xfrm>
          <a:prstGeom prst="ellipse">
            <a:avLst/>
          </a:prstGeom>
          <a:solidFill>
            <a:srgbClr val="E8EEF8"/>
          </a:solidFill>
          <a:ln/>
        </p:spPr>
      </p:sp>
      <p:pic>
        <p:nvPicPr>
          <p:cNvPr id="143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41280" y="5605272"/>
            <a:ext cx="219456" cy="219456"/>
          </a:xfrm>
          <a:prstGeom prst="rect">
            <a:avLst/>
          </a:prstGeom>
        </p:spPr>
      </p:pic>
      <p:sp>
        <p:nvSpPr>
          <p:cNvPr id="144" name="Text 107"/>
          <p:cNvSpPr/>
          <p:nvPr/>
        </p:nvSpPr>
        <p:spPr>
          <a:xfrm>
            <a:off x="10616184" y="5349240"/>
            <a:ext cx="74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50" dirty="0"/>
          </a:p>
        </p:txBody>
      </p:sp>
      <p:sp>
        <p:nvSpPr>
          <p:cNvPr id="145" name="Text 108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9319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 Thangavelu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FB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rajakumar.tu@gmail.com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21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A2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 Architecture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49834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component contains, and the responsibilities it owns across the three OpenShift namespaces.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E7B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DAGs and triggers runs on schedule.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deferred tasks; fires on task.result.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operator code briefly, then defer.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Deferrable Operators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task.command; perform no compute.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DAG Bundle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Deployed, versioned workflow definitions.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Airflow REST API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Trigger, read state, and clear for re-runs.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Orchestrator API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and schedules DAGs; serves the Console.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Consumer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execution.status events from Kafka.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Store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run, task, and audit history.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 Gateway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live updates via a Redis backplane.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Reconciler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Repairs state from the Airflow REST API.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Resolver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task.result to resume deferred tasks.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EXECUTION-ENGINE NAMESPACE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3225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Consumer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33272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task.command events from Kafka.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9976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2" name="Shape 9"/>
          <p:cNvSpPr/>
          <p:nvPr/>
        </p:nvSpPr>
        <p:spPr>
          <a:xfrm>
            <a:off x="4636008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32257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Pool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36008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actual compute; autoscales on lag.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82712" y="187452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982712" y="187452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18" name="Shape 14"/>
          <p:cNvSpPr/>
          <p:nvPr/>
        </p:nvSpPr>
        <p:spPr>
          <a:xfrm>
            <a:off x="8238744" y="216712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322576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38744" y="291693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38744" y="326440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data systems and external services.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77240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272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51713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3272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Publisher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33272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execution.status on completion.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79976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379976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0" name="Shape 24"/>
          <p:cNvSpPr/>
          <p:nvPr/>
        </p:nvSpPr>
        <p:spPr>
          <a:xfrm>
            <a:off x="4636008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51713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636008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Secrets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36008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credentials from the secrets vault.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7982712" y="4069080"/>
            <a:ext cx="3493008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A33">
                <a:alpha val="16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982712" y="4069080"/>
            <a:ext cx="3493008" cy="64008"/>
          </a:xfrm>
          <a:prstGeom prst="rect">
            <a:avLst/>
          </a:prstGeom>
          <a:solidFill>
            <a:srgbClr val="E31837"/>
          </a:solidFill>
          <a:ln/>
        </p:spPr>
      </p:sp>
      <p:sp>
        <p:nvSpPr>
          <p:cNvPr id="36" name="Shape 29"/>
          <p:cNvSpPr/>
          <p:nvPr/>
        </p:nvSpPr>
        <p:spPr>
          <a:xfrm>
            <a:off x="8238744" y="4361688"/>
            <a:ext cx="640080" cy="640080"/>
          </a:xfrm>
          <a:prstGeom prst="ellipse">
            <a:avLst/>
          </a:prstGeom>
          <a:solidFill>
            <a:srgbClr val="FCE7EB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1713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38744" y="5111496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238744" y="5458968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Dedupes by task_run_id; safe retries.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18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21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Areas of Responsibility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solidFill>
            <a:srgbClr val="01216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Core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011680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defer DAG tasks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519172"/>
            <a:ext cx="274320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40680" y="2272284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0121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32120" y="227228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on task.result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solidFill>
            <a:srgbClr val="1B6CD4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355848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606040" y="3355848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&amp; schedule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63340"/>
            <a:ext cx="274320" cy="2011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44068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3212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task status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863340"/>
            <a:ext cx="274320" cy="20116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909560" y="3616452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6CD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001000" y="361645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push live UI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19"/>
          <p:cNvSpPr/>
          <p:nvPr/>
        </p:nvSpPr>
        <p:spPr>
          <a:xfrm>
            <a:off x="777240" y="4700016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Engine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2606040" y="4700016"/>
            <a:ext cx="8778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97180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06324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compute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207508"/>
            <a:ext cx="274320" cy="20116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440680" y="4960620"/>
            <a:ext cx="2011680" cy="713232"/>
          </a:xfrm>
          <a:prstGeom prst="roundRect">
            <a:avLst>
              <a:gd name="adj" fmla="val 8974"/>
            </a:avLst>
          </a:prstGeom>
          <a:solidFill>
            <a:srgbClr val="F2F5FA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532120" y="49606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execution.status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11185855" y="63276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6B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of America — Presentation Template (Extended)</dc:title>
  <dc:subject>PptxGenJS Presentation</dc:subject>
  <dc:creator>Rajakumar Thangavelu</dc:creator>
  <cp:lastModifiedBy>Rajakumar Thangavelu</cp:lastModifiedBy>
  <cp:revision>1</cp:revision>
  <dcterms:created xsi:type="dcterms:W3CDTF">2026-06-19T04:08:13Z</dcterms:created>
  <dcterms:modified xsi:type="dcterms:W3CDTF">2026-06-19T04:08:13Z</dcterms:modified>
</cp:coreProperties>
</file>