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9"/>
    <p:sldId id="259" r:id="rId5"/>
    <p:sldId id="260" r:id="rId6"/>
    <p:sldId id="277" r:id="rId28"/>
    <p:sldId id="278" r:id="rId29"/>
    <p:sldId id="279" r:id="rId30"/>
    <p:sldId id="280" r:id="rId31"/>
    <p:sldId id="281" r:id="rId32"/>
    <p:sldId id="267" r:id="rId13"/>
    <p:sldId id="269" r:id="rId15"/>
    <p:sldId id="282" r:id="rId33"/>
    <p:sldId id="283" r:id="rId34"/>
    <p:sldId id="261" r:id="rId7"/>
    <p:sldId id="262" r:id="rId8"/>
    <p:sldId id="264" r:id="rId10"/>
    <p:sldId id="271" r:id="rId17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4800</c:v>
                </c:pt>
                <c:pt idx="2">
                  <c:v>6400</c:v>
                </c:pt>
                <c:pt idx="3">
                  <c:v>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2169"/>
              </a:solidFill>
              <a:effectLst/>
            </c:spPr>
          </c:dPt>
          <c:dPt>
            <c:idx val="1"/>
            <c:bubble3D val="0"/>
            <c:spPr>
              <a:solidFill>
                <a:srgbClr val="1B6CD4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Pt>
            <c:idx val="3"/>
            <c:bubble3D val="0"/>
            <c:spPr>
              <a:solidFill>
                <a:srgbClr val="6FA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E31837"/>
            </a:solidFill>
            <a:ln w="38100" cap="flat">
              <a:solidFill>
                <a:srgbClr val="E318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1837"/>
              </a:solidFill>
              <a:ln w="9525" cap="flat">
                <a:solidFill>
                  <a:srgbClr val="E318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185</c:v>
                </c:pt>
                <c:pt idx="2">
                  <c:v>160</c:v>
                </c:pt>
                <c:pt idx="3">
                  <c:v>140</c:v>
                </c:pt>
                <c:pt idx="4">
                  <c:v>128</c:v>
                </c:pt>
                <c:pt idx="5">
                  <c:v>120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bubble3D val="0"/>
            <c:spPr>
              <a:solidFill>
                <a:srgbClr val="6FA8E8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</c:v>
                </c:pt>
                <c:pt idx="1">
                  <c:v>At Risk</c:v>
                </c:pt>
                <c:pt idx="2">
                  <c:v>Breached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</c:v>
                </c:pt>
                <c:pt idx="1">
                  <c:v>13</c:v>
                </c:pt>
                <c:pt idx="2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86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9728"/>
            <a:ext cx="3319272" cy="6748272"/>
          </a:xfrm>
          <a:prstGeom prst="rect">
            <a:avLst/>
          </a:prstGeom>
          <a:solidFill>
            <a:srgbClr val="0A2A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09728"/>
            <a:ext cx="54864" cy="67482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AstroFlow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Review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Business-friendly orchestration on Astronomer: Airflow orchestrates, a separate engine executes, and the dashboard stays live.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pPr indent="0" marL="0">
              <a:buNone/>
            </a:pPr>
            <a:r>
              <a:rPr lang="en-US" sz="15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Software Architect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44068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30552" y="544068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54406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Principles &amp; Goals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vs. execution, and why it matters.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734056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7340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Reference Architecture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across OpenShift namespaces.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Execution Model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 and the deferred-task lifecycle.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Trade-offs &amp; Risks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decisions, open questions, and mitigations.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Roadmap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 delivery to enterprise GA.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 Goes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framing what this section covers and why it matters.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Pillars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sequences tasks; it performs no compute.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dispatch work and defer; workers stay free.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every component end to end.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Updates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pushes each state change to the UI.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its own OpenShift namespace.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compose from governed, versioned templates.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12169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(UI)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run &amp; schedule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ns · orchestrator · 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ns · Airflow ·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2918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982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ns · compute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648456"/>
            <a:ext cx="411480" cy="29260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48456"/>
            <a:ext cx="411480" cy="29260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48456"/>
            <a:ext cx="411480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20440" y="1920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61188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Event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execution.status · task.result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20440" y="4800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611880" y="4800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Platform &amp; Observability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namespaces · RBAC · Metrics · Logs · Tracing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Astronomer/Airflow orchestrates only — all compute runs in the Execution Engine. Each component is an isolated OpenShift namespace on a shared Kafka backbone.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Resuming a Deferred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· Trigger Event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08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resolver of truth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11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updates UI &amp; task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triggerer + custom trigger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8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coupling to operator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· Airflow REST API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083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implement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trigger code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execute_complete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1888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drift from deferral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/ Effort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1965960"/>
            <a:ext cx="2002536" cy="2002536"/>
          </a:xfrm>
          <a:prstGeom prst="rect">
            <a:avLst/>
          </a:prstGeom>
          <a:solidFill>
            <a:srgbClr val="DCF1E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status transport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965960"/>
            <a:ext cx="2002536" cy="2002536"/>
          </a:xfrm>
          <a:prstGeom prst="rect">
            <a:avLst/>
          </a:prstGeom>
          <a:solidFill>
            <a:srgbClr val="E2EC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Projects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9704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Trigger-event resume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078224"/>
            <a:ext cx="2002536" cy="2002536"/>
          </a:xfrm>
          <a:prstGeom prst="rect">
            <a:avLst/>
          </a:prstGeom>
          <a:solidFill>
            <a:srgbClr val="F0F2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Fill-Ins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SLA timeouts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4078224"/>
            <a:ext cx="2002536" cy="2002536"/>
          </a:xfrm>
          <a:prstGeom prst="rect">
            <a:avLst/>
          </a:prstGeom>
          <a:solidFill>
            <a:srgbClr val="FCE7E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9704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REST resume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 rot="16200000">
            <a:off x="777240" y="1965960"/>
            <a:ext cx="1280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 decisions plotted by value vs. effort. Start top-left; the trigger-event resume is the high-value bet.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03120"/>
            <a:ext cx="128016" cy="23774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116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“Airflow orchestrates the work. It never performs the work.”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61288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Compute is fully decoupled: tasks defer while a separate engine executes.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86968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&lt;50ms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602736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LATENCY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318504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24544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034272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BLOCKED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" y="3520440"/>
          <a:ext cx="10607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&amp; Trend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Mix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Trend (p95, ms)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&amp;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Attainment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Growth (users, k)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32186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4332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runs / schedules DAG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64" y="3529584"/>
            <a:ext cx="32918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1460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1460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Shape 9"/>
          <p:cNvSpPr/>
          <p:nvPr/>
        </p:nvSpPr>
        <p:spPr>
          <a:xfrm>
            <a:off x="3544672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2186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1460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991460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emits command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692" y="3529584"/>
            <a:ext cx="32918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8588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218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58588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58588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waits · worker freed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3529584"/>
            <a:ext cx="32918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5716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325716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Shape 19"/>
          <p:cNvSpPr/>
          <p:nvPr/>
        </p:nvSpPr>
        <p:spPr>
          <a:xfrm>
            <a:off x="7878928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664" y="321868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25716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25716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computes &amp; reports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529584"/>
            <a:ext cx="32918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92844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492844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Shape 24"/>
          <p:cNvSpPr/>
          <p:nvPr/>
        </p:nvSpPr>
        <p:spPr>
          <a:xfrm>
            <a:off x="10046056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792" y="321868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492844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492844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updates UI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Swimlane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/ Services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persist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events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596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3596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11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644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6644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59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692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07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926080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63040" y="259689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schedule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11040" y="3639312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11040" y="33101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9040" y="4352544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559040" y="402336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defer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07040" y="5065776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559040" y="4736592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59040" y="5779008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11040" y="5449824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resolve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11040" y="6492240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463040" y="616305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334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5478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622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57016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57016" y="26334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57016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35478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36792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6792" y="26334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36792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5478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16568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16568" y="26334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5" name="Text 33"/>
          <p:cNvSpPr/>
          <p:nvPr/>
        </p:nvSpPr>
        <p:spPr>
          <a:xfrm>
            <a:off x="9317736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16568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16568" y="35478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9317736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16568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44622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25880" y="2286000"/>
            <a:ext cx="8339328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scaffold, data contract, mock adapter.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7016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9896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37398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+ Build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85616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graph, task templates, drag-and-drop builder.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6792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65392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granular re-run, audit trail.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16568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16568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9448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92994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45168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+ GA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345168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engine &amp; controller; SSO, RBAC, multi-tenancy.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Timeline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931920"/>
            <a:ext cx="9997135" cy="0"/>
          </a:xfrm>
          <a:prstGeom prst="line">
            <a:avLst/>
          </a:prstGeom>
          <a:noFill/>
          <a:ln w="38100">
            <a:solidFill>
              <a:srgbClr val="012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7692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2164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2164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26821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2164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82164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6564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6976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448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81448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4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1448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144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rollout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6259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731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731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731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731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731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131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5543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0015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80015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180015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80015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80015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094415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Stakeholders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03224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832" y="2596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3184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3184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9496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104" y="2596896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9456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959456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55768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596896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5728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35728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2040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2596896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20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20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808312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920" y="2596896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88272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488272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Logo Library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software-industry brand logos — copy any tile into your diagrams.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3794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854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6537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89864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1854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95935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18541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8678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005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854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4748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08076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18541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0819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14146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8541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6889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20216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185416"/>
            <a:ext cx="475488" cy="4754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2960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926287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2185416"/>
            <a:ext cx="475488" cy="4754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9030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032357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752" y="2185416"/>
            <a:ext cx="475488" cy="4754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035100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77724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6" y="3300984"/>
            <a:ext cx="475488" cy="4754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0467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183794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3300984"/>
            <a:ext cx="475488" cy="4754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86537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900" dirty="0"/>
          </a:p>
        </p:txBody>
      </p:sp>
      <p:sp>
        <p:nvSpPr>
          <p:cNvPr id="41" name="Shape 27"/>
          <p:cNvSpPr/>
          <p:nvPr/>
        </p:nvSpPr>
        <p:spPr>
          <a:xfrm>
            <a:off x="289864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3824" y="3300984"/>
            <a:ext cx="475488" cy="47548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2608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395935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4528" y="3300984"/>
            <a:ext cx="475488" cy="47548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98678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00" dirty="0"/>
          </a:p>
        </p:txBody>
      </p:sp>
      <p:sp>
        <p:nvSpPr>
          <p:cNvPr id="47" name="Shape 31"/>
          <p:cNvSpPr/>
          <p:nvPr/>
        </p:nvSpPr>
        <p:spPr>
          <a:xfrm>
            <a:off x="502005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5232" y="3300984"/>
            <a:ext cx="475488" cy="47548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Shape 33"/>
          <p:cNvSpPr/>
          <p:nvPr/>
        </p:nvSpPr>
        <p:spPr>
          <a:xfrm>
            <a:off x="608076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36" y="3300984"/>
            <a:ext cx="475488" cy="47548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10819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714146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3300984"/>
            <a:ext cx="475488" cy="475488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716889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6" name="Shape 37"/>
          <p:cNvSpPr/>
          <p:nvPr/>
        </p:nvSpPr>
        <p:spPr>
          <a:xfrm>
            <a:off x="820216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7344" y="3300984"/>
            <a:ext cx="475488" cy="475488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822960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926287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8048" y="3300984"/>
            <a:ext cx="475488" cy="4754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929030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00" dirty="0"/>
          </a:p>
        </p:txBody>
      </p:sp>
      <p:sp>
        <p:nvSpPr>
          <p:cNvPr id="62" name="Shape 41"/>
          <p:cNvSpPr/>
          <p:nvPr/>
        </p:nvSpPr>
        <p:spPr>
          <a:xfrm>
            <a:off x="1032357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8752" y="3300984"/>
            <a:ext cx="475488" cy="475488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1035100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65" name="Shape 43"/>
          <p:cNvSpPr/>
          <p:nvPr/>
        </p:nvSpPr>
        <p:spPr>
          <a:xfrm>
            <a:off x="77724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416" y="4416552"/>
            <a:ext cx="475488" cy="47548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80467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68" name="Shape 45"/>
          <p:cNvSpPr/>
          <p:nvPr/>
        </p:nvSpPr>
        <p:spPr>
          <a:xfrm>
            <a:off x="183794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03120" y="4416552"/>
            <a:ext cx="475488" cy="475488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186537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289864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3824" y="4416552"/>
            <a:ext cx="475488" cy="475488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292608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74" name="Shape 49"/>
          <p:cNvSpPr/>
          <p:nvPr/>
        </p:nvSpPr>
        <p:spPr>
          <a:xfrm>
            <a:off x="395935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24528" y="4416552"/>
            <a:ext cx="475488" cy="475488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398678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00" dirty="0"/>
          </a:p>
        </p:txBody>
      </p:sp>
      <p:sp>
        <p:nvSpPr>
          <p:cNvPr id="77" name="Shape 51"/>
          <p:cNvSpPr/>
          <p:nvPr/>
        </p:nvSpPr>
        <p:spPr>
          <a:xfrm>
            <a:off x="502005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5232" y="4416552"/>
            <a:ext cx="475488" cy="475488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504748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80" name="Shape 53"/>
          <p:cNvSpPr/>
          <p:nvPr/>
        </p:nvSpPr>
        <p:spPr>
          <a:xfrm>
            <a:off x="608076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5936" y="4416552"/>
            <a:ext cx="475488" cy="475488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610819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83" name="Shape 55"/>
          <p:cNvSpPr/>
          <p:nvPr/>
        </p:nvSpPr>
        <p:spPr>
          <a:xfrm>
            <a:off x="714146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6640" y="4416552"/>
            <a:ext cx="475488" cy="475488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716889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6" name="Shape 57"/>
          <p:cNvSpPr/>
          <p:nvPr/>
        </p:nvSpPr>
        <p:spPr>
          <a:xfrm>
            <a:off x="820216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67344" y="4416552"/>
            <a:ext cx="475488" cy="475488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822960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89" name="Shape 59"/>
          <p:cNvSpPr/>
          <p:nvPr/>
        </p:nvSpPr>
        <p:spPr>
          <a:xfrm>
            <a:off x="926287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28048" y="4416552"/>
            <a:ext cx="475488" cy="475488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929030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92" name="Shape 61"/>
          <p:cNvSpPr/>
          <p:nvPr/>
        </p:nvSpPr>
        <p:spPr>
          <a:xfrm>
            <a:off x="1032357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88752" y="4416552"/>
            <a:ext cx="475488" cy="475488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035100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900" dirty="0"/>
          </a:p>
        </p:txBody>
      </p:sp>
      <p:sp>
        <p:nvSpPr>
          <p:cNvPr id="95" name="Shape 63"/>
          <p:cNvSpPr/>
          <p:nvPr/>
        </p:nvSpPr>
        <p:spPr>
          <a:xfrm>
            <a:off x="777240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6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2416" y="5532120"/>
            <a:ext cx="475488" cy="475488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804672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900" dirty="0"/>
          </a:p>
        </p:txBody>
      </p:sp>
      <p:sp>
        <p:nvSpPr>
          <p:cNvPr id="98" name="Shape 65"/>
          <p:cNvSpPr/>
          <p:nvPr/>
        </p:nvSpPr>
        <p:spPr>
          <a:xfrm>
            <a:off x="1837944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9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3120" y="5532120"/>
            <a:ext cx="475488" cy="475488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1865376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101" name="Shape 67"/>
          <p:cNvSpPr/>
          <p:nvPr/>
        </p:nvSpPr>
        <p:spPr>
          <a:xfrm>
            <a:off x="2898648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2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63824" y="5532120"/>
            <a:ext cx="475488" cy="475488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2926080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900" dirty="0"/>
          </a:p>
        </p:txBody>
      </p:sp>
      <p:sp>
        <p:nvSpPr>
          <p:cNvPr id="104" name="Shape 69"/>
          <p:cNvSpPr/>
          <p:nvPr/>
        </p:nvSpPr>
        <p:spPr>
          <a:xfrm>
            <a:off x="3959352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24528" y="5532120"/>
            <a:ext cx="475488" cy="475488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3986784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07" name="Text 7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Concept Icons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building blocks for system diagrams — recolor and reuse freely.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1343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144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3134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9624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77640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313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71416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85816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13832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3134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07608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22008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50024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31343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845820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58621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31343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7999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99439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12240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31343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61618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77724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0525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3136392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9903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231343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244144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13639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93522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3849624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977640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3136392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471416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5385816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5513832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2704" y="313639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007608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6922008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7050024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313639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43800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845820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858621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088" y="3136392"/>
            <a:ext cx="219456" cy="21945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07999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7" name="Shape 42"/>
          <p:cNvSpPr/>
          <p:nvPr/>
        </p:nvSpPr>
        <p:spPr>
          <a:xfrm>
            <a:off x="999439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012240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3136392"/>
            <a:ext cx="219456" cy="21945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061618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77724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0525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" y="3959352"/>
            <a:ext cx="219456" cy="219456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39903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231343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244144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0320" y="3959352"/>
            <a:ext cx="219456" cy="219456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293522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3849624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3977640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6512" y="3959352"/>
            <a:ext cx="219456" cy="219456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4471416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73" name="Shape 54"/>
          <p:cNvSpPr/>
          <p:nvPr/>
        </p:nvSpPr>
        <p:spPr>
          <a:xfrm>
            <a:off x="5385816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5513832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32704" y="3959352"/>
            <a:ext cx="219456" cy="219456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6007608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50" dirty="0"/>
          </a:p>
        </p:txBody>
      </p:sp>
      <p:sp>
        <p:nvSpPr>
          <p:cNvPr id="77" name="Shape 57"/>
          <p:cNvSpPr/>
          <p:nvPr/>
        </p:nvSpPr>
        <p:spPr>
          <a:xfrm>
            <a:off x="6922008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7050024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8896" y="3959352"/>
            <a:ext cx="219456" cy="219456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7543800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81" name="Shape 60"/>
          <p:cNvSpPr/>
          <p:nvPr/>
        </p:nvSpPr>
        <p:spPr>
          <a:xfrm>
            <a:off x="845820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858621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3959352"/>
            <a:ext cx="219456" cy="21945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907999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85" name="Shape 63"/>
          <p:cNvSpPr/>
          <p:nvPr/>
        </p:nvSpPr>
        <p:spPr>
          <a:xfrm>
            <a:off x="999439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6" name="Shape 64"/>
          <p:cNvSpPr/>
          <p:nvPr/>
        </p:nvSpPr>
        <p:spPr>
          <a:xfrm>
            <a:off x="1012240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7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1280" y="3959352"/>
            <a:ext cx="219456" cy="219456"/>
          </a:xfrm>
          <a:prstGeom prst="rect">
            <a:avLst/>
          </a:prstGeom>
        </p:spPr>
      </p:pic>
      <p:sp>
        <p:nvSpPr>
          <p:cNvPr id="88" name="Text 65"/>
          <p:cNvSpPr/>
          <p:nvPr/>
        </p:nvSpPr>
        <p:spPr>
          <a:xfrm>
            <a:off x="1061618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50" dirty="0"/>
          </a:p>
        </p:txBody>
      </p:sp>
      <p:sp>
        <p:nvSpPr>
          <p:cNvPr id="89" name="Shape 66"/>
          <p:cNvSpPr/>
          <p:nvPr/>
        </p:nvSpPr>
        <p:spPr>
          <a:xfrm>
            <a:off x="77724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0" name="Shape 67"/>
          <p:cNvSpPr/>
          <p:nvPr/>
        </p:nvSpPr>
        <p:spPr>
          <a:xfrm>
            <a:off x="90525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" y="4782312"/>
            <a:ext cx="219456" cy="219456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139903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93" name="Shape 69"/>
          <p:cNvSpPr/>
          <p:nvPr/>
        </p:nvSpPr>
        <p:spPr>
          <a:xfrm>
            <a:off x="231343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4" name="Shape 70"/>
          <p:cNvSpPr/>
          <p:nvPr/>
        </p:nvSpPr>
        <p:spPr>
          <a:xfrm>
            <a:off x="244144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5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60320" y="4782312"/>
            <a:ext cx="219456" cy="219456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293522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97" name="Shape 72"/>
          <p:cNvSpPr/>
          <p:nvPr/>
        </p:nvSpPr>
        <p:spPr>
          <a:xfrm>
            <a:off x="3849624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8" name="Shape 73"/>
          <p:cNvSpPr/>
          <p:nvPr/>
        </p:nvSpPr>
        <p:spPr>
          <a:xfrm>
            <a:off x="3977640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9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96512" y="4782312"/>
            <a:ext cx="219456" cy="219456"/>
          </a:xfrm>
          <a:prstGeom prst="rect">
            <a:avLst/>
          </a:prstGeom>
        </p:spPr>
      </p:pic>
      <p:sp>
        <p:nvSpPr>
          <p:cNvPr id="100" name="Text 74"/>
          <p:cNvSpPr/>
          <p:nvPr/>
        </p:nvSpPr>
        <p:spPr>
          <a:xfrm>
            <a:off x="4471416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01" name="Shape 75"/>
          <p:cNvSpPr/>
          <p:nvPr/>
        </p:nvSpPr>
        <p:spPr>
          <a:xfrm>
            <a:off x="5385816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2" name="Shape 76"/>
          <p:cNvSpPr/>
          <p:nvPr/>
        </p:nvSpPr>
        <p:spPr>
          <a:xfrm>
            <a:off x="5513832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3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32704" y="4782312"/>
            <a:ext cx="219456" cy="219456"/>
          </a:xfrm>
          <a:prstGeom prst="rect">
            <a:avLst/>
          </a:prstGeom>
        </p:spPr>
      </p:pic>
      <p:sp>
        <p:nvSpPr>
          <p:cNvPr id="104" name="Text 77"/>
          <p:cNvSpPr/>
          <p:nvPr/>
        </p:nvSpPr>
        <p:spPr>
          <a:xfrm>
            <a:off x="6007608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105" name="Shape 78"/>
          <p:cNvSpPr/>
          <p:nvPr/>
        </p:nvSpPr>
        <p:spPr>
          <a:xfrm>
            <a:off x="6922008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6" name="Shape 79"/>
          <p:cNvSpPr/>
          <p:nvPr/>
        </p:nvSpPr>
        <p:spPr>
          <a:xfrm>
            <a:off x="7050024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8896" y="4782312"/>
            <a:ext cx="219456" cy="219456"/>
          </a:xfrm>
          <a:prstGeom prst="rect">
            <a:avLst/>
          </a:prstGeom>
        </p:spPr>
      </p:pic>
      <p:sp>
        <p:nvSpPr>
          <p:cNvPr id="108" name="Text 80"/>
          <p:cNvSpPr/>
          <p:nvPr/>
        </p:nvSpPr>
        <p:spPr>
          <a:xfrm>
            <a:off x="7543800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109" name="Shape 81"/>
          <p:cNvSpPr/>
          <p:nvPr/>
        </p:nvSpPr>
        <p:spPr>
          <a:xfrm>
            <a:off x="845820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0" name="Shape 82"/>
          <p:cNvSpPr/>
          <p:nvPr/>
        </p:nvSpPr>
        <p:spPr>
          <a:xfrm>
            <a:off x="858621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1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05088" y="4782312"/>
            <a:ext cx="219456" cy="219456"/>
          </a:xfrm>
          <a:prstGeom prst="rect">
            <a:avLst/>
          </a:prstGeom>
        </p:spPr>
      </p:pic>
      <p:sp>
        <p:nvSpPr>
          <p:cNvPr id="112" name="Text 83"/>
          <p:cNvSpPr/>
          <p:nvPr/>
        </p:nvSpPr>
        <p:spPr>
          <a:xfrm>
            <a:off x="907999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13" name="Shape 84"/>
          <p:cNvSpPr/>
          <p:nvPr/>
        </p:nvSpPr>
        <p:spPr>
          <a:xfrm>
            <a:off x="999439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4" name="Shape 85"/>
          <p:cNvSpPr/>
          <p:nvPr/>
        </p:nvSpPr>
        <p:spPr>
          <a:xfrm>
            <a:off x="1012240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5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1280" y="4782312"/>
            <a:ext cx="219456" cy="219456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1061618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17" name="Shape 87"/>
          <p:cNvSpPr/>
          <p:nvPr/>
        </p:nvSpPr>
        <p:spPr>
          <a:xfrm>
            <a:off x="77724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8" name="Shape 88"/>
          <p:cNvSpPr/>
          <p:nvPr/>
        </p:nvSpPr>
        <p:spPr>
          <a:xfrm>
            <a:off x="90525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9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" y="5605272"/>
            <a:ext cx="219456" cy="219456"/>
          </a:xfrm>
          <a:prstGeom prst="rect">
            <a:avLst/>
          </a:prstGeom>
        </p:spPr>
      </p:pic>
      <p:sp>
        <p:nvSpPr>
          <p:cNvPr id="120" name="Text 89"/>
          <p:cNvSpPr/>
          <p:nvPr/>
        </p:nvSpPr>
        <p:spPr>
          <a:xfrm>
            <a:off x="139903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21" name="Shape 90"/>
          <p:cNvSpPr/>
          <p:nvPr/>
        </p:nvSpPr>
        <p:spPr>
          <a:xfrm>
            <a:off x="231343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2" name="Shape 91"/>
          <p:cNvSpPr/>
          <p:nvPr/>
        </p:nvSpPr>
        <p:spPr>
          <a:xfrm>
            <a:off x="244144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60320" y="5605272"/>
            <a:ext cx="219456" cy="219456"/>
          </a:xfrm>
          <a:prstGeom prst="rect">
            <a:avLst/>
          </a:prstGeom>
        </p:spPr>
      </p:pic>
      <p:sp>
        <p:nvSpPr>
          <p:cNvPr id="124" name="Text 92"/>
          <p:cNvSpPr/>
          <p:nvPr/>
        </p:nvSpPr>
        <p:spPr>
          <a:xfrm>
            <a:off x="293522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25" name="Shape 93"/>
          <p:cNvSpPr/>
          <p:nvPr/>
        </p:nvSpPr>
        <p:spPr>
          <a:xfrm>
            <a:off x="3849624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6" name="Shape 94"/>
          <p:cNvSpPr/>
          <p:nvPr/>
        </p:nvSpPr>
        <p:spPr>
          <a:xfrm>
            <a:off x="3977640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7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96512" y="5605272"/>
            <a:ext cx="219456" cy="219456"/>
          </a:xfrm>
          <a:prstGeom prst="rect">
            <a:avLst/>
          </a:prstGeom>
        </p:spPr>
      </p:pic>
      <p:sp>
        <p:nvSpPr>
          <p:cNvPr id="128" name="Text 95"/>
          <p:cNvSpPr/>
          <p:nvPr/>
        </p:nvSpPr>
        <p:spPr>
          <a:xfrm>
            <a:off x="4471416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29" name="Shape 96"/>
          <p:cNvSpPr/>
          <p:nvPr/>
        </p:nvSpPr>
        <p:spPr>
          <a:xfrm>
            <a:off x="5385816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0" name="Shape 97"/>
          <p:cNvSpPr/>
          <p:nvPr/>
        </p:nvSpPr>
        <p:spPr>
          <a:xfrm>
            <a:off x="5513832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1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32704" y="5605272"/>
            <a:ext cx="219456" cy="219456"/>
          </a:xfrm>
          <a:prstGeom prst="rect">
            <a:avLst/>
          </a:prstGeom>
        </p:spPr>
      </p:pic>
      <p:sp>
        <p:nvSpPr>
          <p:cNvPr id="132" name="Text 98"/>
          <p:cNvSpPr/>
          <p:nvPr/>
        </p:nvSpPr>
        <p:spPr>
          <a:xfrm>
            <a:off x="6007608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133" name="Shape 99"/>
          <p:cNvSpPr/>
          <p:nvPr/>
        </p:nvSpPr>
        <p:spPr>
          <a:xfrm>
            <a:off x="6922008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4" name="Shape 100"/>
          <p:cNvSpPr/>
          <p:nvPr/>
        </p:nvSpPr>
        <p:spPr>
          <a:xfrm>
            <a:off x="7050024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5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8896" y="5605272"/>
            <a:ext cx="219456" cy="219456"/>
          </a:xfrm>
          <a:prstGeom prst="rect">
            <a:avLst/>
          </a:prstGeom>
        </p:spPr>
      </p:pic>
      <p:sp>
        <p:nvSpPr>
          <p:cNvPr id="136" name="Text 101"/>
          <p:cNvSpPr/>
          <p:nvPr/>
        </p:nvSpPr>
        <p:spPr>
          <a:xfrm>
            <a:off x="7543800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137" name="Shape 102"/>
          <p:cNvSpPr/>
          <p:nvPr/>
        </p:nvSpPr>
        <p:spPr>
          <a:xfrm>
            <a:off x="845820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8" name="Shape 103"/>
          <p:cNvSpPr/>
          <p:nvPr/>
        </p:nvSpPr>
        <p:spPr>
          <a:xfrm>
            <a:off x="858621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9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05088" y="5605272"/>
            <a:ext cx="219456" cy="219456"/>
          </a:xfrm>
          <a:prstGeom prst="rect">
            <a:avLst/>
          </a:prstGeom>
        </p:spPr>
      </p:pic>
      <p:sp>
        <p:nvSpPr>
          <p:cNvPr id="140" name="Text 104"/>
          <p:cNvSpPr/>
          <p:nvPr/>
        </p:nvSpPr>
        <p:spPr>
          <a:xfrm>
            <a:off x="907999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41" name="Shape 105"/>
          <p:cNvSpPr/>
          <p:nvPr/>
        </p:nvSpPr>
        <p:spPr>
          <a:xfrm>
            <a:off x="999439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2" name="Shape 106"/>
          <p:cNvSpPr/>
          <p:nvPr/>
        </p:nvSpPr>
        <p:spPr>
          <a:xfrm>
            <a:off x="1012240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43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41280" y="5605272"/>
            <a:ext cx="219456" cy="219456"/>
          </a:xfrm>
          <a:prstGeom prst="rect">
            <a:avLst/>
          </a:prstGeom>
        </p:spPr>
      </p:pic>
      <p:sp>
        <p:nvSpPr>
          <p:cNvPr id="144" name="Text 107"/>
          <p:cNvSpPr/>
          <p:nvPr/>
        </p:nvSpPr>
        <p:spPr>
          <a:xfrm>
            <a:off x="1061618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45" name="Text 10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rajakumar.tu@gmail.com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Architecture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component contains, and the responsibilities it owns across the three OpenShift namespaces.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DAGs and triggers runs on schedule.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deferred tasks; fires on task.result.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operator code briefly, then defer.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Deferrable Operators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task.command; perform no compute.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 Bundle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versioned workflow definitions.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 REST API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read state, and clear for re-runs.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API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schedules DAGs; serves the Console.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Consumer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execution.status events from Kafka.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Store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run, task, and audit history.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Gateway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live updates via a Redis backplane.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Reconciler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state from the Airflow REST API.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Resolver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task.result to resume deferred tasks.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Consumer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task.command events from Kafka.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Pool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actual compute; autoscales on lag.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data systems and external services.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Publisher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execution.status on completion.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credentials from the secrets vault.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Dedupes by task_run_id; safe retries.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Areas of Responsibility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defer DAG tasks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on task.result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&amp; schedule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task status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push live UI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compute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execution.status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Lifecycle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32186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4332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selects DAG · execution_id minted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64" y="3529584"/>
            <a:ext cx="32918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1460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1460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Shape 9"/>
          <p:cNvSpPr/>
          <p:nvPr/>
        </p:nvSpPr>
        <p:spPr>
          <a:xfrm>
            <a:off x="3544672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2186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1460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991460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reports dag_execution_id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692" y="3529584"/>
            <a:ext cx="32918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8588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218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58588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58588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emits Kafka · defers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3529584"/>
            <a:ext cx="32918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5716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325716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Shape 19"/>
          <p:cNvSpPr/>
          <p:nvPr/>
        </p:nvSpPr>
        <p:spPr>
          <a:xfrm>
            <a:off x="7878928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664" y="321868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25716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25716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runs · execution.status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529584"/>
            <a:ext cx="32918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92844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492844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Shape 24"/>
          <p:cNvSpPr/>
          <p:nvPr/>
        </p:nvSpPr>
        <p:spPr>
          <a:xfrm>
            <a:off x="10046056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792" y="321868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492844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492844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sets state · UI live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IDs, One Execution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execution_id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08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Minted by the Controller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11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on every Kafka event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subscription &amp; tracing key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8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exposes Airflow internals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dag_execution_id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083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Airflow-native run id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the DAG at startup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execution_id by Controller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1888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control the run via REST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America — Presentation Template (Extended)</dc:title>
  <dc:subject>PptxGenJS Presentation</dc:subject>
  <dc:creator>Rajakumar Thangavelu</dc:creator>
  <cp:lastModifiedBy>Rajakumar Thangavelu</cp:lastModifiedBy>
  <cp:revision>1</cp:revision>
  <dcterms:created xsi:type="dcterms:W3CDTF">2026-06-19T04:08:13Z</dcterms:created>
  <dcterms:modified xsi:type="dcterms:W3CDTF">2026-06-19T04:08:13Z</dcterms:modified>
</cp:coreProperties>
</file>