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3" r:id="rId9"/>
    <p:sldId id="259" r:id="rId5"/>
    <p:sldId id="260" r:id="rId6"/>
    <p:sldId id="283" r:id="rId33"/>
    <p:sldId id="284" r:id="rId34"/>
    <p:sldId id="277" r:id="rId28"/>
    <p:sldId id="278" r:id="rId29"/>
    <p:sldId id="279" r:id="rId30"/>
    <p:sldId id="280" r:id="rId31"/>
    <p:sldId id="281" r:id="rId32"/>
    <p:sldId id="267" r:id="rId13"/>
    <p:sldId id="287" r:id="rId37"/>
    <p:sldId id="288" r:id="rId38"/>
    <p:sldId id="285" r:id="rId35"/>
    <p:sldId id="286" r:id="rId36"/>
    <p:sldId id="269" r:id="rId15"/>
    <p:sldId id="261" r:id="rId7"/>
    <p:sldId id="262" r:id="rId8"/>
    <p:sldId id="264" r:id="rId10"/>
    <p:sldId id="271" r:id="rId17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3.xml"/><Relationship Id="rId38" Type="http://schemas.openxmlformats.org/officeDocument/2006/relationships/slide" Target="slides/slide14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1B6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4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3200</c:v>
                </c:pt>
                <c:pt idx="1">
                  <c:v>4800</c:v>
                </c:pt>
                <c:pt idx="2">
                  <c:v>6400</c:v>
                </c:pt>
                <c:pt idx="3">
                  <c:v>8900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4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12169"/>
              </a:solidFill>
              <a:effectLst/>
            </c:spPr>
          </c:dPt>
          <c:dPt>
            <c:idx val="1"/>
            <c:bubble3D val="0"/>
            <c:spPr>
              <a:solidFill>
                <a:srgbClr val="1B6CD4"/>
              </a:solidFill>
              <a:effectLst/>
            </c:spPr>
          </c:dPt>
          <c:dPt>
            <c:idx val="2"/>
            <c:bubble3D val="0"/>
            <c:spPr>
              <a:solidFill>
                <a:srgbClr val="E31837"/>
              </a:solidFill>
              <a:effectLst/>
            </c:spPr>
          </c:dPt>
          <c:dPt>
            <c:idx val="3"/>
            <c:bubble3D val="0"/>
            <c:spPr>
              <a:solidFill>
                <a:srgbClr val="6FA8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Compute</c:v>
                </c:pt>
                <c:pt idx="1">
                  <c:v>Storage</c:v>
                </c:pt>
                <c:pt idx="2">
                  <c:v>Network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4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</c:v>
                </c:pt>
              </c:strCache>
            </c:strRef>
          </c:tx>
          <c:spPr>
            <a:solidFill>
              <a:srgbClr val="E31837"/>
            </a:solidFill>
            <a:ln w="38100" cap="flat">
              <a:solidFill>
                <a:srgbClr val="E318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31837"/>
              </a:solidFill>
              <a:ln w="9525" cap="flat">
                <a:solidFill>
                  <a:srgbClr val="E318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</c:v>
                </c:pt>
                <c:pt idx="1">
                  <c:v>185</c:v>
                </c:pt>
                <c:pt idx="2">
                  <c:v>160</c:v>
                </c:pt>
                <c:pt idx="3">
                  <c:v>140</c:v>
                </c:pt>
                <c:pt idx="4">
                  <c:v>128</c:v>
                </c:pt>
                <c:pt idx="5">
                  <c:v>120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998B"/>
              </a:solidFill>
              <a:effectLst/>
            </c:spPr>
          </c:dPt>
          <c:dPt>
            <c:idx val="1"/>
            <c:bubble3D val="0"/>
            <c:spPr>
              <a:solidFill>
                <a:srgbClr val="6FA8E8"/>
              </a:solidFill>
              <a:effectLst/>
            </c:spPr>
          </c:dPt>
          <c:dPt>
            <c:idx val="2"/>
            <c:bubble3D val="0"/>
            <c:spPr>
              <a:solidFill>
                <a:srgbClr val="E3183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Met</c:v>
                </c:pt>
                <c:pt idx="1">
                  <c:v>At Risk</c:v>
                </c:pt>
                <c:pt idx="2">
                  <c:v>Breached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82</c:v>
                </c:pt>
                <c:pt idx="1">
                  <c:v>13</c:v>
                </c:pt>
                <c:pt idx="2">
                  <c:v>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4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1B6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28</c:v>
                </c:pt>
                <c:pt idx="2">
                  <c:v>51</c:v>
                </c:pt>
                <c:pt idx="3">
                  <c:v>86</c:v>
                </c:pt>
                <c:pt idx="4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/Relationships>

</file>

<file path=ppt/slides/_rels/slide14.xml.rels><?xml version="1.0" encoding="UTF-8"?><Relationships xmlns="http://schemas.openxmlformats.org/package/2006/relationships"></Relationships>

</file>

<file path=ppt/slides/_rels/slide15.xml.rels><?xml version="1.0" encoding="UTF-8"?><Relationships xmlns="http://schemas.openxmlformats.org/package/2006/relationships"></Relationships>
</file>

<file path=ppt/slides/_rels/slide16.xml.rels><?xml version="1.0" encoding="UTF-8"?><Relationships xmlns="http://schemas.openxmlformats.org/package/2006/relationships"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image" Target="../media/image-19-25.png"/><Relationship Id="rId26" Type="http://schemas.openxmlformats.org/officeDocument/2006/relationships/image" Target="../media/image-19-26.png"/><Relationship Id="rId27" Type="http://schemas.openxmlformats.org/officeDocument/2006/relationships/image" Target="../media/image-19-27.png"/><Relationship Id="rId28" Type="http://schemas.openxmlformats.org/officeDocument/2006/relationships/image" Target="../media/image-19-28.png"/><Relationship Id="rId29" Type="http://schemas.openxmlformats.org/officeDocument/2006/relationships/image" Target="../media/image-19-29.png"/><Relationship Id="rId30" Type="http://schemas.openxmlformats.org/officeDocument/2006/relationships/image" Target="../media/image-19-30.png"/><Relationship Id="rId31" Type="http://schemas.openxmlformats.org/officeDocument/2006/relationships/image" Target="../media/image-19-31.png"/><Relationship Id="rId32" Type="http://schemas.openxmlformats.org/officeDocument/2006/relationships/image" Target="../media/image-19-32.png"/><Relationship Id="rId33" Type="http://schemas.openxmlformats.org/officeDocument/2006/relationships/image" Target="../media/image-19-33.png"/><Relationship Id="rId34" Type="http://schemas.openxmlformats.org/officeDocument/2006/relationships/image" Target="../media/image-19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19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png"/><Relationship Id="rId21" Type="http://schemas.openxmlformats.org/officeDocument/2006/relationships/image" Target="../media/image-20-21.png"/><Relationship Id="rId22" Type="http://schemas.openxmlformats.org/officeDocument/2006/relationships/image" Target="../media/image-20-22.png"/><Relationship Id="rId23" Type="http://schemas.openxmlformats.org/officeDocument/2006/relationships/image" Target="../media/image-20-23.png"/><Relationship Id="rId24" Type="http://schemas.openxmlformats.org/officeDocument/2006/relationships/image" Target="../media/image-20-24.png"/><Relationship Id="rId25" Type="http://schemas.openxmlformats.org/officeDocument/2006/relationships/image" Target="../media/image-20-25.png"/><Relationship Id="rId26" Type="http://schemas.openxmlformats.org/officeDocument/2006/relationships/image" Target="../media/image-20-26.png"/><Relationship Id="rId27" Type="http://schemas.openxmlformats.org/officeDocument/2006/relationships/image" Target="../media/image-20-27.png"/><Relationship Id="rId28" Type="http://schemas.openxmlformats.org/officeDocument/2006/relationships/image" Target="../media/image-20-28.png"/><Relationship Id="rId29" Type="http://schemas.openxmlformats.org/officeDocument/2006/relationships/image" Target="../media/image-20-29.png"/><Relationship Id="rId30" Type="http://schemas.openxmlformats.org/officeDocument/2006/relationships/image" Target="../media/image-20-30.png"/><Relationship Id="rId31" Type="http://schemas.openxmlformats.org/officeDocument/2006/relationships/image" Target="../media/image-20-31.png"/><Relationship Id="rId32" Type="http://schemas.openxmlformats.org/officeDocument/2006/relationships/image" Target="../media/image-20-32.png"/><Relationship Id="rId33" Type="http://schemas.openxmlformats.org/officeDocument/2006/relationships/image" Target="../media/image-20-33.png"/><Relationship Id="rId34" Type="http://schemas.openxmlformats.org/officeDocument/2006/relationships/image" Target="../media/image-20-34.png"/><Relationship Id="rId35" Type="http://schemas.openxmlformats.org/officeDocument/2006/relationships/image" Target="../media/image-20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20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9728"/>
            <a:ext cx="3319272" cy="6748272"/>
          </a:xfrm>
          <a:prstGeom prst="rect">
            <a:avLst/>
          </a:prstGeom>
          <a:solidFill>
            <a:srgbClr val="0A2A6B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09728"/>
            <a:ext cx="54864" cy="674827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B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AstroFlow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Review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Business-friendly orchestration on Astronomer: Airflow orchestrates, a separate engine executes, and the dashboard stays live.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709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 Thangavelu</a:t>
            </a:r>
            <a:pPr indent="0" marL="0">
              <a:buNone/>
            </a:pPr>
            <a:r>
              <a:rPr lang="en-US" sz="15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Software Architect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5440680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44068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30552" y="5440680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54406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91840" y="544068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544068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0" y="544068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544068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Principles &amp; Goals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vs. execution, and why it matters.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734056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34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08760" y="27340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Reference Architecture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components across OpenShift namespaces.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502152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08760" y="35021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Execution Model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flow and the deferred-task lifecycle.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270248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08760" y="42702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Trade-offs &amp; Risks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decisions, open questions, and mitigations.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38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08760" y="503834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Roadmap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Console-first delivery to enterprise GA.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A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Title Goes Here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983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framing what this section covers and why it matters.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Pillars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sequences tasks; it performs no compute.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Deferral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dispatch work and defer; workers stay free.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Event-Driven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decouples every component end to end.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Updates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pushes each state change to the UI.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is its own OpenShift namespace.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compose from governed, versioned templates.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012169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(UI)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· run &amp; schedule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204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118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ns · orchestrator · WS · Redis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Core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astronomer ns · Airflow · operators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06840" y="32918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9828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execution-engine ns · compute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3648456"/>
            <a:ext cx="411480" cy="292608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648456"/>
            <a:ext cx="411480" cy="292608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48456"/>
            <a:ext cx="411480" cy="29260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520440" y="19202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0336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361188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— Event Backbone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task.command · execution.status · task.result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520440" y="48006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0336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3611880" y="4800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Platform &amp; Observability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namespaces · RBAC · Metrics · Logs · Tracing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Astronomer/Airflow orchestrates only — all compute runs in the Execution Engine. Each component is an isolated OpenShift namespace on a shared Kafka backbone.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Resuming a Deferred Task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212080" cy="713232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· Trigger Event</a:t>
            </a:r>
            <a:endParaRPr lang="en-US" sz="1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0083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resolver of truth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61188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529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 updates UI &amp; task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153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triggerer + custom trigger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81888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4736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coupling to operator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309360" y="201168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309360" y="2011680"/>
            <a:ext cx="5212080" cy="71323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7" name="Text 11"/>
          <p:cNvSpPr/>
          <p:nvPr/>
        </p:nvSpPr>
        <p:spPr>
          <a:xfrm>
            <a:off x="6309360" y="20116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· Airflow REST API</a:t>
            </a:r>
            <a:endParaRPr lang="en-US" sz="1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00837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8660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to implement</a:t>
            </a:r>
            <a:endParaRPr 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61188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86600" y="3529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trigger code</a:t>
            </a:r>
            <a:endParaRPr lang="en-US" sz="14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215384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8660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execute_complete</a:t>
            </a:r>
            <a:endParaRPr lang="en-US" sz="14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4818888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086600" y="4736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can drift from deferral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/ Effort Matrix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194560" y="1965960"/>
            <a:ext cx="2002536" cy="2002536"/>
          </a:xfrm>
          <a:prstGeom prst="rect">
            <a:avLst/>
          </a:prstGeom>
          <a:solidFill>
            <a:srgbClr val="DCF1E4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23774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Wins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377440" y="28803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status transport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965960"/>
            <a:ext cx="2002536" cy="2002536"/>
          </a:xfrm>
          <a:prstGeom prst="rect">
            <a:avLst/>
          </a:prstGeom>
          <a:solidFill>
            <a:srgbClr val="E2EC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9704" y="23774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Projects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9704" y="28803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Trigger-event resume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4078224"/>
            <a:ext cx="2002536" cy="2002536"/>
          </a:xfrm>
          <a:prstGeom prst="rect">
            <a:avLst/>
          </a:prstGeom>
          <a:solidFill>
            <a:srgbClr val="F0F2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448970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Fill-Ins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77440" y="499262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SLA timeouts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6824" y="4078224"/>
            <a:ext cx="2002536" cy="2002536"/>
          </a:xfrm>
          <a:prstGeom prst="rect">
            <a:avLst/>
          </a:prstGeom>
          <a:solidFill>
            <a:srgbClr val="FCE7E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448970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18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Thankless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9704" y="499262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REST resume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 rot="16200000">
            <a:off x="777240" y="1965960"/>
            <a:ext cx="1280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6172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237744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architecture decisions plotted by value vs. effort. Start top-left; the trigger-event resume is the high-value bet.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103120"/>
            <a:ext cx="128016" cy="23774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01168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“Airflow orchestrates the work. It never performs the work.”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61288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Compute is fully decoupled: tasks defer while a separate engine executes.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That Matter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99.99%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86968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93008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93008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0" name="Text 8"/>
          <p:cNvSpPr/>
          <p:nvPr/>
        </p:nvSpPr>
        <p:spPr>
          <a:xfrm>
            <a:off x="3602736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&lt;50ms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3602736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LATENCY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fps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6318504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GRAPH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24544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24544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Text 16"/>
          <p:cNvSpPr/>
          <p:nvPr/>
        </p:nvSpPr>
        <p:spPr>
          <a:xfrm>
            <a:off x="9034272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9034272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BLOCKED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77240" y="3520440"/>
          <a:ext cx="106070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&amp; Trend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 Mix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 Trend (p95, ms)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1945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 &amp; Growth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 Attainment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Growth (users, k)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1945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4332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4332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377544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280" y="32186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4332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4332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runs / schedules DAG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564" y="3529584"/>
            <a:ext cx="32918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91460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91460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Shape 9"/>
          <p:cNvSpPr/>
          <p:nvPr/>
        </p:nvSpPr>
        <p:spPr>
          <a:xfrm>
            <a:off x="3544672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08" y="321868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91460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991460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emits command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692" y="3529584"/>
            <a:ext cx="32918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8588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158588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0" name="Shape 14"/>
          <p:cNvSpPr/>
          <p:nvPr/>
        </p:nvSpPr>
        <p:spPr>
          <a:xfrm>
            <a:off x="5711800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536" y="321868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58588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Defer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158588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waits · worker freed</a:t>
            </a:r>
            <a:endParaRPr lang="en-US" sz="11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820" y="3529584"/>
            <a:ext cx="32918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25716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325716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7" name="Shape 19"/>
          <p:cNvSpPr/>
          <p:nvPr/>
        </p:nvSpPr>
        <p:spPr>
          <a:xfrm>
            <a:off x="7878928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2664" y="3218688"/>
            <a:ext cx="420624" cy="42062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325716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7325716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computes &amp; reports</a:t>
            </a:r>
            <a:endParaRPr lang="en-US" sz="11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1948" y="3529584"/>
            <a:ext cx="329184" cy="237744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492844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9492844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4" name="Shape 24"/>
          <p:cNvSpPr/>
          <p:nvPr/>
        </p:nvSpPr>
        <p:spPr>
          <a:xfrm>
            <a:off x="10046056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9792" y="3218688"/>
            <a:ext cx="420624" cy="42062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492844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9492844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updates UI</a:t>
            </a:r>
            <a:endParaRPr lang="en-US" sz="1150" dirty="0"/>
          </a:p>
        </p:txBody>
      </p:sp>
      <p:sp>
        <p:nvSpPr>
          <p:cNvPr id="38" name="Text 2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Redis? (Not PostgreSQL)</a:t>
            </a:r>
            <a:endParaRPr lang="en-US" sz="3400" dirty="0"/>
          </a:p>
        </p:txBody>
      </p:sp>
      <p:sp>
        <p:nvSpPr>
          <p:cNvPr id="4" name="Card 1"/>
          <p:cNvSpPr/>
          <p:nvPr/>
        </p:nvSpPr>
        <p:spPr>
          <a:xfrm>
            <a:off x="89100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Text Card 1"/>
          <p:cNvSpPr/>
          <p:nvPr/>
        </p:nvSpPr>
        <p:spPr>
          <a:xfrm>
            <a:off x="89100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318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40x faster</a:t>
            </a:r>
            <a:endParaRPr lang="en-US" sz="1600" dirty="0"/>
          </a:p>
        </p:txBody>
      </p:sp>
      <p:sp>
        <p:nvSpPr>
          <p:cNvPr id="6" name="Card 2"/>
          <p:cNvSpPr/>
          <p:nvPr/>
        </p:nvSpPr>
        <p:spPr>
          <a:xfrm>
            <a:off x="384612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Text Card 2"/>
          <p:cNvSpPr/>
          <p:nvPr/>
        </p:nvSpPr>
        <p:spPr>
          <a:xfrm>
            <a:off x="384612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Migrations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Stateful, no schemas</a:t>
            </a:r>
            <a:endParaRPr lang="en-US" sz="1600" dirty="0"/>
          </a:p>
        </p:txBody>
      </p:sp>
      <p:sp>
        <p:nvSpPr>
          <p:cNvPr id="8" name="Card 3"/>
          <p:cNvSpPr/>
          <p:nvPr/>
        </p:nvSpPr>
        <p:spPr>
          <a:xfrm>
            <a:off x="680124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Text Card 3"/>
          <p:cNvSpPr/>
          <p:nvPr/>
        </p:nvSpPr>
        <p:spPr>
          <a:xfrm>
            <a:off x="680124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K8s Native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StatefulSet, persistent</a:t>
            </a:r>
            <a:endParaRPr lang="en-US" sz="1600" dirty="0"/>
          </a:p>
        </p:txBody>
      </p:sp>
      <p:sp>
        <p:nvSpPr>
          <p:cNvPr id="10" name="Card 4"/>
          <p:cNvSpPr/>
          <p:nvPr/>
        </p:nvSpPr>
        <p:spPr>
          <a:xfrm>
            <a:off x="975636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Text Card 4"/>
          <p:cNvSpPr/>
          <p:nvPr/>
        </p:nvSpPr>
        <p:spPr>
          <a:xfrm>
            <a:off x="975636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Simpler Ops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tuning needed</a:t>
            </a:r>
            <a:endParaRPr lang="en-US" sz="1600" dirty="0"/>
          </a:p>
        </p:txBody>
      </p:sp>
      <p:sp>
        <p:nvSpPr>
          <p:cNvPr id="12" name="Text 1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Deployment (OpenShift)</a:t>
            </a:r>
            <a:endParaRPr lang="en-US" sz="3400" dirty="0"/>
          </a:p>
        </p:txBody>
      </p:sp>
      <p:sp>
        <p:nvSpPr>
          <p:cNvPr id="4" name="Box OpenShift"/>
          <p:cNvSpPr/>
          <p:nvPr/>
        </p:nvSpPr>
        <p:spPr>
          <a:xfrm>
            <a:off x="1554480" y="1920240"/>
            <a:ext cx="9144000" cy="45716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D7DEE8"/>
            </a:solidFill>
            <a:prstDash val="solid"/>
          </a:ln>
        </p:spPr>
      </p:sp>
      <p:sp>
        <p:nvSpPr>
          <p:cNvPr id="5" name="Text OpenShift"/>
          <p:cNvSpPr/>
          <p:nvPr/>
        </p:nvSpPr>
        <p:spPr>
          <a:xfrm>
            <a:off x="1646320" y="1983696"/>
            <a:ext cx="210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OpenShift Cluster</a:t>
            </a:r>
            <a:endParaRPr lang="en-US" sz="1400" dirty="0"/>
          </a:p>
        </p:txBody>
      </p:sp>
      <p:sp>
        <p:nvSpPr>
          <p:cNvPr id="6" name="Box Namespace"/>
          <p:cNvSpPr/>
          <p:nvPr/>
        </p:nvSpPr>
        <p:spPr>
          <a:xfrm>
            <a:off x="1646320" y="2471904"/>
            <a:ext cx="8959920" cy="3848376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2B9F8B"/>
            </a:solidFill>
            <a:prstDash val="dash"/>
          </a:ln>
        </p:spPr>
      </p:sp>
      <p:sp>
        <p:nvSpPr>
          <p:cNvPr id="7" name="Text Namespace"/>
          <p:cNvSpPr/>
          <p:nvPr/>
        </p:nvSpPr>
        <p:spPr>
          <a:xfrm>
            <a:off x="1738160" y="2564304"/>
            <a:ext cx="291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 namespace</a:t>
            </a:r>
            <a:endParaRPr lang="en-US" sz="1250" dirty="0"/>
          </a:p>
        </p:txBody>
      </p:sp>
      <p:sp>
        <p:nvSpPr>
          <p:cNvPr id="8" name="Item 1"/>
          <p:cNvSpPr/>
          <p:nvPr/>
        </p:nvSpPr>
        <p:spPr>
          <a:xfrm>
            <a:off x="182880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9" name="Text Item 1"/>
          <p:cNvSpPr/>
          <p:nvPr/>
        </p:nvSpPr>
        <p:spPr>
          <a:xfrm>
            <a:off x="182880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pods</a:t>
            </a:r>
            <a:endParaRPr lang="en-US" sz="1150" dirty="0"/>
          </a:p>
        </p:txBody>
      </p:sp>
      <p:sp>
        <p:nvSpPr>
          <p:cNvPr id="10" name="Item 2"/>
          <p:cNvSpPr/>
          <p:nvPr/>
        </p:nvSpPr>
        <p:spPr>
          <a:xfrm>
            <a:off x="515688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1" name="Text Item 2"/>
          <p:cNvSpPr/>
          <p:nvPr/>
        </p:nvSpPr>
        <p:spPr>
          <a:xfrm>
            <a:off x="515688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StatefulSet (2)</a:t>
            </a:r>
            <a:endParaRPr lang="en-US" sz="1150" dirty="0"/>
          </a:p>
        </p:txBody>
      </p:sp>
      <p:sp>
        <p:nvSpPr>
          <p:cNvPr id="12" name="Item 3"/>
          <p:cNvSpPr/>
          <p:nvPr/>
        </p:nvSpPr>
        <p:spPr>
          <a:xfrm>
            <a:off x="748496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3" name="Text Item 3"/>
          <p:cNvSpPr/>
          <p:nvPr/>
        </p:nvSpPr>
        <p:spPr>
          <a:xfrm>
            <a:off x="748496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14" name="Item 4"/>
          <p:cNvSpPr/>
          <p:nvPr/>
        </p:nvSpPr>
        <p:spPr>
          <a:xfrm>
            <a:off x="182880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5" name="Text Item 4"/>
          <p:cNvSpPr/>
          <p:nvPr/>
        </p:nvSpPr>
        <p:spPr>
          <a:xfrm>
            <a:off x="182880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</a:t>
            </a:r>
            <a:endParaRPr lang="en-US" sz="1150" dirty="0"/>
          </a:p>
        </p:txBody>
      </p:sp>
      <p:sp>
        <p:nvSpPr>
          <p:cNvPr id="16" name="Item 5"/>
          <p:cNvSpPr/>
          <p:nvPr/>
        </p:nvSpPr>
        <p:spPr>
          <a:xfrm>
            <a:off x="515688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7" name="Text Item 5"/>
          <p:cNvSpPr/>
          <p:nvPr/>
        </p:nvSpPr>
        <p:spPr>
          <a:xfrm>
            <a:off x="515688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150" dirty="0"/>
          </a:p>
        </p:txBody>
      </p:sp>
      <p:sp>
        <p:nvSpPr>
          <p:cNvPr id="18" name="Item 6"/>
          <p:cNvSpPr/>
          <p:nvPr/>
        </p:nvSpPr>
        <p:spPr>
          <a:xfrm>
            <a:off x="748496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9" name="Text Item 6"/>
          <p:cNvSpPr/>
          <p:nvPr/>
        </p:nvSpPr>
        <p:spPr>
          <a:xfrm>
            <a:off x="748496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GB)</a:t>
            </a:r>
            <a:endParaRPr lang="en-US" sz="1000" dirty="0"/>
          </a:p>
        </p:txBody>
      </p:sp>
      <p:sp>
        <p:nvSpPr>
          <p:cNvPr id="20" name="Text 20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Redis? (Not PostgreSQL)</a:t>
            </a:r>
            <a:endParaRPr lang="en-US" sz="3400" dirty="0"/>
          </a:p>
        </p:txBody>
      </p:sp>
      <p:sp>
        <p:nvSpPr>
          <p:cNvPr id="4" name="Card 1"/>
          <p:cNvSpPr/>
          <p:nvPr/>
        </p:nvSpPr>
        <p:spPr>
          <a:xfrm>
            <a:off x="89100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Text Card 1"/>
          <p:cNvSpPr/>
          <p:nvPr/>
        </p:nvSpPr>
        <p:spPr>
          <a:xfrm>
            <a:off x="89100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318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40x faster</a:t>
            </a:r>
            <a:endParaRPr lang="en-US" sz="1600" dirty="0"/>
          </a:p>
        </p:txBody>
      </p:sp>
      <p:sp>
        <p:nvSpPr>
          <p:cNvPr id="6" name="Card 2"/>
          <p:cNvSpPr/>
          <p:nvPr/>
        </p:nvSpPr>
        <p:spPr>
          <a:xfrm>
            <a:off x="384612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Text Card 2"/>
          <p:cNvSpPr/>
          <p:nvPr/>
        </p:nvSpPr>
        <p:spPr>
          <a:xfrm>
            <a:off x="384612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Migrations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Stateful, no schemas</a:t>
            </a:r>
            <a:endParaRPr lang="en-US" sz="1600" dirty="0"/>
          </a:p>
        </p:txBody>
      </p:sp>
      <p:sp>
        <p:nvSpPr>
          <p:cNvPr id="8" name="Card 3"/>
          <p:cNvSpPr/>
          <p:nvPr/>
        </p:nvSpPr>
        <p:spPr>
          <a:xfrm>
            <a:off x="680124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Text Card 3"/>
          <p:cNvSpPr/>
          <p:nvPr/>
        </p:nvSpPr>
        <p:spPr>
          <a:xfrm>
            <a:off x="680124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K8s Native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StatefulSet, persistent</a:t>
            </a:r>
            <a:endParaRPr lang="en-US" sz="1600" dirty="0"/>
          </a:p>
        </p:txBody>
      </p:sp>
      <p:sp>
        <p:nvSpPr>
          <p:cNvPr id="10" name="Card 4"/>
          <p:cNvSpPr/>
          <p:nvPr/>
        </p:nvSpPr>
        <p:spPr>
          <a:xfrm>
            <a:off x="975636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Text Card 4"/>
          <p:cNvSpPr/>
          <p:nvPr/>
        </p:nvSpPr>
        <p:spPr>
          <a:xfrm>
            <a:off x="975636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Simpler Ops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tuning needed</a:t>
            </a:r>
            <a:endParaRPr lang="en-US" sz="1600" dirty="0"/>
          </a:p>
        </p:txBody>
      </p:sp>
      <p:sp>
        <p:nvSpPr>
          <p:cNvPr id="12" name="Text 1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Deployment (OpenShift)</a:t>
            </a:r>
            <a:endParaRPr lang="en-US" sz="3400" dirty="0"/>
          </a:p>
        </p:txBody>
      </p:sp>
      <p:sp>
        <p:nvSpPr>
          <p:cNvPr id="4" name="Box OpenShift"/>
          <p:cNvSpPr/>
          <p:nvPr/>
        </p:nvSpPr>
        <p:spPr>
          <a:xfrm>
            <a:off x="1554480" y="1920240"/>
            <a:ext cx="9144000" cy="45716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D7DEE8"/>
            </a:solidFill>
            <a:prstDash val="solid"/>
          </a:ln>
        </p:spPr>
      </p:sp>
      <p:sp>
        <p:nvSpPr>
          <p:cNvPr id="5" name="Text OpenShift"/>
          <p:cNvSpPr/>
          <p:nvPr/>
        </p:nvSpPr>
        <p:spPr>
          <a:xfrm>
            <a:off x="1646320" y="1983696"/>
            <a:ext cx="210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OpenShift Cluster</a:t>
            </a:r>
            <a:endParaRPr lang="en-US" sz="1400" dirty="0"/>
          </a:p>
        </p:txBody>
      </p:sp>
      <p:sp>
        <p:nvSpPr>
          <p:cNvPr id="6" name="Box Namespace"/>
          <p:cNvSpPr/>
          <p:nvPr/>
        </p:nvSpPr>
        <p:spPr>
          <a:xfrm>
            <a:off x="1646320" y="2471904"/>
            <a:ext cx="8959920" cy="3848376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2B9F8B"/>
            </a:solidFill>
            <a:prstDash val="dash"/>
          </a:ln>
        </p:spPr>
      </p:sp>
      <p:sp>
        <p:nvSpPr>
          <p:cNvPr id="7" name="Text Namespace"/>
          <p:cNvSpPr/>
          <p:nvPr/>
        </p:nvSpPr>
        <p:spPr>
          <a:xfrm>
            <a:off x="1738160" y="2564304"/>
            <a:ext cx="291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 namespace</a:t>
            </a:r>
            <a:endParaRPr lang="en-US" sz="1250" dirty="0"/>
          </a:p>
        </p:txBody>
      </p:sp>
      <p:sp>
        <p:nvSpPr>
          <p:cNvPr id="8" name="Item 1"/>
          <p:cNvSpPr/>
          <p:nvPr/>
        </p:nvSpPr>
        <p:spPr>
          <a:xfrm>
            <a:off x="182880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9" name="Text Item 1"/>
          <p:cNvSpPr/>
          <p:nvPr/>
        </p:nvSpPr>
        <p:spPr>
          <a:xfrm>
            <a:off x="182880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pods</a:t>
            </a:r>
            <a:endParaRPr lang="en-US" sz="1150" dirty="0"/>
          </a:p>
        </p:txBody>
      </p:sp>
      <p:sp>
        <p:nvSpPr>
          <p:cNvPr id="10" name="Item 2"/>
          <p:cNvSpPr/>
          <p:nvPr/>
        </p:nvSpPr>
        <p:spPr>
          <a:xfrm>
            <a:off x="515688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1" name="Text Item 2"/>
          <p:cNvSpPr/>
          <p:nvPr/>
        </p:nvSpPr>
        <p:spPr>
          <a:xfrm>
            <a:off x="515688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StatefulSet (2)</a:t>
            </a:r>
            <a:endParaRPr lang="en-US" sz="1150" dirty="0"/>
          </a:p>
        </p:txBody>
      </p:sp>
      <p:sp>
        <p:nvSpPr>
          <p:cNvPr id="12" name="Item 3"/>
          <p:cNvSpPr/>
          <p:nvPr/>
        </p:nvSpPr>
        <p:spPr>
          <a:xfrm>
            <a:off x="748496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3" name="Text Item 3"/>
          <p:cNvSpPr/>
          <p:nvPr/>
        </p:nvSpPr>
        <p:spPr>
          <a:xfrm>
            <a:off x="748496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14" name="Item 4"/>
          <p:cNvSpPr/>
          <p:nvPr/>
        </p:nvSpPr>
        <p:spPr>
          <a:xfrm>
            <a:off x="182880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5" name="Text Item 4"/>
          <p:cNvSpPr/>
          <p:nvPr/>
        </p:nvSpPr>
        <p:spPr>
          <a:xfrm>
            <a:off x="182880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</a:t>
            </a:r>
            <a:endParaRPr lang="en-US" sz="1150" dirty="0"/>
          </a:p>
        </p:txBody>
      </p:sp>
      <p:sp>
        <p:nvSpPr>
          <p:cNvPr id="16" name="Item 5"/>
          <p:cNvSpPr/>
          <p:nvPr/>
        </p:nvSpPr>
        <p:spPr>
          <a:xfrm>
            <a:off x="515688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7" name="Text Item 5"/>
          <p:cNvSpPr/>
          <p:nvPr/>
        </p:nvSpPr>
        <p:spPr>
          <a:xfrm>
            <a:off x="515688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150" dirty="0"/>
          </a:p>
        </p:txBody>
      </p:sp>
      <p:sp>
        <p:nvSpPr>
          <p:cNvPr id="18" name="Item 6"/>
          <p:cNvSpPr/>
          <p:nvPr/>
        </p:nvSpPr>
        <p:spPr>
          <a:xfrm>
            <a:off x="748496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9" name="Text Item 6"/>
          <p:cNvSpPr/>
          <p:nvPr/>
        </p:nvSpPr>
        <p:spPr>
          <a:xfrm>
            <a:off x="748496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GB)</a:t>
            </a:r>
            <a:endParaRPr lang="en-US" sz="1000" dirty="0"/>
          </a:p>
        </p:txBody>
      </p:sp>
      <p:sp>
        <p:nvSpPr>
          <p:cNvPr id="20" name="Text 20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Redis? (Not PostgreSQL)</a:t>
            </a:r>
            <a:endParaRPr lang="en-US" sz="3400" dirty="0"/>
          </a:p>
        </p:txBody>
      </p:sp>
      <p:sp>
        <p:nvSpPr>
          <p:cNvPr id="4" name="Card 1"/>
          <p:cNvSpPr/>
          <p:nvPr/>
        </p:nvSpPr>
        <p:spPr>
          <a:xfrm>
            <a:off x="89100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Text Card 1"/>
          <p:cNvSpPr/>
          <p:nvPr/>
        </p:nvSpPr>
        <p:spPr>
          <a:xfrm>
            <a:off x="89100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318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40x faster</a:t>
            </a:r>
            <a:endParaRPr lang="en-US" sz="1600" dirty="0"/>
          </a:p>
        </p:txBody>
      </p:sp>
      <p:sp>
        <p:nvSpPr>
          <p:cNvPr id="6" name="Card 2"/>
          <p:cNvSpPr/>
          <p:nvPr/>
        </p:nvSpPr>
        <p:spPr>
          <a:xfrm>
            <a:off x="384612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Text Card 2"/>
          <p:cNvSpPr/>
          <p:nvPr/>
        </p:nvSpPr>
        <p:spPr>
          <a:xfrm>
            <a:off x="384612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Migrations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Stateful, no schemas</a:t>
            </a:r>
            <a:endParaRPr lang="en-US" sz="1600" dirty="0"/>
          </a:p>
        </p:txBody>
      </p:sp>
      <p:sp>
        <p:nvSpPr>
          <p:cNvPr id="8" name="Card 3"/>
          <p:cNvSpPr/>
          <p:nvPr/>
        </p:nvSpPr>
        <p:spPr>
          <a:xfrm>
            <a:off x="680124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Text Card 3"/>
          <p:cNvSpPr/>
          <p:nvPr/>
        </p:nvSpPr>
        <p:spPr>
          <a:xfrm>
            <a:off x="680124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K8s Native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StatefulSet, persistent</a:t>
            </a:r>
            <a:endParaRPr lang="en-US" sz="1600" dirty="0"/>
          </a:p>
        </p:txBody>
      </p:sp>
      <p:sp>
        <p:nvSpPr>
          <p:cNvPr id="10" name="Card 4"/>
          <p:cNvSpPr/>
          <p:nvPr/>
        </p:nvSpPr>
        <p:spPr>
          <a:xfrm>
            <a:off x="975636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Text Card 4"/>
          <p:cNvSpPr/>
          <p:nvPr/>
        </p:nvSpPr>
        <p:spPr>
          <a:xfrm>
            <a:off x="975636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Simpler Ops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tuning needed</a:t>
            </a:r>
            <a:endParaRPr lang="en-US" sz="1600" dirty="0"/>
          </a:p>
        </p:txBody>
      </p:sp>
      <p:sp>
        <p:nvSpPr>
          <p:cNvPr id="12" name="Text 1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Deployment (OpenShift)</a:t>
            </a:r>
            <a:endParaRPr lang="en-US" sz="3400" dirty="0"/>
          </a:p>
        </p:txBody>
      </p:sp>
      <p:sp>
        <p:nvSpPr>
          <p:cNvPr id="4" name="Box OpenShift"/>
          <p:cNvSpPr/>
          <p:nvPr/>
        </p:nvSpPr>
        <p:spPr>
          <a:xfrm>
            <a:off x="1554480" y="1920240"/>
            <a:ext cx="9144000" cy="45716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D7DEE8"/>
            </a:solidFill>
            <a:prstDash val="solid"/>
          </a:ln>
        </p:spPr>
      </p:sp>
      <p:sp>
        <p:nvSpPr>
          <p:cNvPr id="5" name="Text OpenShift"/>
          <p:cNvSpPr/>
          <p:nvPr/>
        </p:nvSpPr>
        <p:spPr>
          <a:xfrm>
            <a:off x="1646320" y="1983696"/>
            <a:ext cx="210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OpenShift Cluster</a:t>
            </a:r>
            <a:endParaRPr lang="en-US" sz="1400" dirty="0"/>
          </a:p>
        </p:txBody>
      </p:sp>
      <p:sp>
        <p:nvSpPr>
          <p:cNvPr id="6" name="Box Namespace"/>
          <p:cNvSpPr/>
          <p:nvPr/>
        </p:nvSpPr>
        <p:spPr>
          <a:xfrm>
            <a:off x="1646320" y="2471904"/>
            <a:ext cx="8959920" cy="3848376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2B9F8B"/>
            </a:solidFill>
            <a:prstDash val="dash"/>
          </a:ln>
        </p:spPr>
      </p:sp>
      <p:sp>
        <p:nvSpPr>
          <p:cNvPr id="7" name="Text Namespace"/>
          <p:cNvSpPr/>
          <p:nvPr/>
        </p:nvSpPr>
        <p:spPr>
          <a:xfrm>
            <a:off x="1738160" y="2564304"/>
            <a:ext cx="291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 namespace</a:t>
            </a:r>
            <a:endParaRPr lang="en-US" sz="1250" dirty="0"/>
          </a:p>
        </p:txBody>
      </p:sp>
      <p:sp>
        <p:nvSpPr>
          <p:cNvPr id="8" name="Item 1"/>
          <p:cNvSpPr/>
          <p:nvPr/>
        </p:nvSpPr>
        <p:spPr>
          <a:xfrm>
            <a:off x="182880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9" name="Text Item 1"/>
          <p:cNvSpPr/>
          <p:nvPr/>
        </p:nvSpPr>
        <p:spPr>
          <a:xfrm>
            <a:off x="182880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pods</a:t>
            </a:r>
            <a:endParaRPr lang="en-US" sz="1150" dirty="0"/>
          </a:p>
        </p:txBody>
      </p:sp>
      <p:sp>
        <p:nvSpPr>
          <p:cNvPr id="10" name="Item 2"/>
          <p:cNvSpPr/>
          <p:nvPr/>
        </p:nvSpPr>
        <p:spPr>
          <a:xfrm>
            <a:off x="515688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1" name="Text Item 2"/>
          <p:cNvSpPr/>
          <p:nvPr/>
        </p:nvSpPr>
        <p:spPr>
          <a:xfrm>
            <a:off x="515688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StatefulSet (2)</a:t>
            </a:r>
            <a:endParaRPr lang="en-US" sz="1150" dirty="0"/>
          </a:p>
        </p:txBody>
      </p:sp>
      <p:sp>
        <p:nvSpPr>
          <p:cNvPr id="12" name="Item 3"/>
          <p:cNvSpPr/>
          <p:nvPr/>
        </p:nvSpPr>
        <p:spPr>
          <a:xfrm>
            <a:off x="748496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3" name="Text Item 3"/>
          <p:cNvSpPr/>
          <p:nvPr/>
        </p:nvSpPr>
        <p:spPr>
          <a:xfrm>
            <a:off x="748496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14" name="Item 4"/>
          <p:cNvSpPr/>
          <p:nvPr/>
        </p:nvSpPr>
        <p:spPr>
          <a:xfrm>
            <a:off x="182880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5" name="Text Item 4"/>
          <p:cNvSpPr/>
          <p:nvPr/>
        </p:nvSpPr>
        <p:spPr>
          <a:xfrm>
            <a:off x="182880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</a:t>
            </a:r>
            <a:endParaRPr lang="en-US" sz="1150" dirty="0"/>
          </a:p>
        </p:txBody>
      </p:sp>
      <p:sp>
        <p:nvSpPr>
          <p:cNvPr id="16" name="Item 5"/>
          <p:cNvSpPr/>
          <p:nvPr/>
        </p:nvSpPr>
        <p:spPr>
          <a:xfrm>
            <a:off x="515688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7" name="Text Item 5"/>
          <p:cNvSpPr/>
          <p:nvPr/>
        </p:nvSpPr>
        <p:spPr>
          <a:xfrm>
            <a:off x="515688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150" dirty="0"/>
          </a:p>
        </p:txBody>
      </p:sp>
      <p:sp>
        <p:nvSpPr>
          <p:cNvPr id="18" name="Item 6"/>
          <p:cNvSpPr/>
          <p:nvPr/>
        </p:nvSpPr>
        <p:spPr>
          <a:xfrm>
            <a:off x="748496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9" name="Text Item 6"/>
          <p:cNvSpPr/>
          <p:nvPr/>
        </p:nvSpPr>
        <p:spPr>
          <a:xfrm>
            <a:off x="748496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GB)</a:t>
            </a:r>
            <a:endParaRPr lang="en-US" sz="1000" dirty="0"/>
          </a:p>
        </p:txBody>
      </p:sp>
      <p:sp>
        <p:nvSpPr>
          <p:cNvPr id="20" name="Text 20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 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2615184" cy="5486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Backlog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6334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SLAs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5478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4622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4622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" y="44622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57016" y="1920240"/>
            <a:ext cx="2615184" cy="5486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6" name="Text 14"/>
          <p:cNvSpPr/>
          <p:nvPr/>
        </p:nvSpPr>
        <p:spPr>
          <a:xfrm>
            <a:off x="3557016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57016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57016" y="2633472"/>
            <a:ext cx="54864" cy="7772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9" name="Text 17"/>
          <p:cNvSpPr/>
          <p:nvPr/>
        </p:nvSpPr>
        <p:spPr>
          <a:xfrm>
            <a:off x="3758184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57016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57016" y="3547872"/>
            <a:ext cx="54864" cy="7772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22" name="Text 20"/>
          <p:cNvSpPr/>
          <p:nvPr/>
        </p:nvSpPr>
        <p:spPr>
          <a:xfrm>
            <a:off x="3758184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36792" y="1920240"/>
            <a:ext cx="2615184" cy="5486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Text 22"/>
          <p:cNvSpPr/>
          <p:nvPr/>
        </p:nvSpPr>
        <p:spPr>
          <a:xfrm>
            <a:off x="6336792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36792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36792" y="2633472"/>
            <a:ext cx="54864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schema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36792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3547872"/>
            <a:ext cx="54864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16568" y="1920240"/>
            <a:ext cx="2615184" cy="5486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2" name="Text 30"/>
          <p:cNvSpPr/>
          <p:nvPr/>
        </p:nvSpPr>
        <p:spPr>
          <a:xfrm>
            <a:off x="9116568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116568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16568" y="26334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5" name="Text 33"/>
          <p:cNvSpPr/>
          <p:nvPr/>
        </p:nvSpPr>
        <p:spPr>
          <a:xfrm>
            <a:off x="9317736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16568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116568" y="35478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8" name="Text 36"/>
          <p:cNvSpPr/>
          <p:nvPr/>
        </p:nvSpPr>
        <p:spPr>
          <a:xfrm>
            <a:off x="9317736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base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16568" y="44622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16568" y="44622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1" name="Text 39"/>
          <p:cNvSpPr/>
          <p:nvPr/>
        </p:nvSpPr>
        <p:spPr>
          <a:xfrm>
            <a:off x="9317736" y="44622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25880" y="2286000"/>
            <a:ext cx="8339328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77240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scaffold, data contract, mock adapter.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57016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57016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9896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373989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85616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85616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+ Build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785616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graph, task templates, drag-and-drop builder.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36792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36792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519672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65392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65392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565392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granular re-run, audit trail.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16568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16568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8" name="Shape 26"/>
          <p:cNvSpPr/>
          <p:nvPr/>
        </p:nvSpPr>
        <p:spPr>
          <a:xfrm>
            <a:off x="9299448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29" name="Text 27"/>
          <p:cNvSpPr/>
          <p:nvPr/>
        </p:nvSpPr>
        <p:spPr>
          <a:xfrm>
            <a:off x="929944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345168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45168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+ GA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345168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engine &amp; controller; SSO, RBAC, multi-tenancy.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 Timeline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3931920"/>
            <a:ext cx="9997135" cy="0"/>
          </a:xfrm>
          <a:prstGeom prst="line">
            <a:avLst/>
          </a:prstGeom>
          <a:noFill/>
          <a:ln w="38100">
            <a:solidFill>
              <a:srgbClr val="0121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Kickoff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&amp;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7692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2164" y="43434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82164" y="434340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26821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82164" y="4727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82164" y="5093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96564" y="393192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76976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1448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81448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2" name="Text 20"/>
          <p:cNvSpPr/>
          <p:nvPr/>
        </p:nvSpPr>
        <p:spPr>
          <a:xfrm>
            <a:off x="5181448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81448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81448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rollout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95848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76259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731" y="43434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80731" y="434340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731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731" y="4727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80731" y="5093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131" y="393192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5543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80015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180015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Text 34"/>
          <p:cNvSpPr/>
          <p:nvPr/>
        </p:nvSpPr>
        <p:spPr>
          <a:xfrm>
            <a:off x="10180015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80015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180015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1094415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Stakeholders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03224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832" y="2596896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3184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3184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79496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104" y="2596896"/>
            <a:ext cx="694944" cy="6949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59456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959456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55768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76" y="2596896"/>
            <a:ext cx="694944" cy="6949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35728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135728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632040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48" y="2596896"/>
            <a:ext cx="694944" cy="6949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200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31200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Lead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808312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0920" y="2596896"/>
            <a:ext cx="694944" cy="6949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88272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9488272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Logo Library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software-industry brand logos — copy any tile into your diagrams.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854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37944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18541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65376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898648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824" y="218541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26080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959352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2185416"/>
            <a:ext cx="475488" cy="4754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86784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020056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2185416"/>
            <a:ext cx="475488" cy="4754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47488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6080760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2185416"/>
            <a:ext cx="475488" cy="4754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08192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7141464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2185416"/>
            <a:ext cx="475488" cy="4754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68896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8202168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2185416"/>
            <a:ext cx="475488" cy="4754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229600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9262872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8048" y="2185416"/>
            <a:ext cx="475488" cy="4754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290304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</a:t>
            </a:r>
            <a:endParaRPr lang="en-US" sz="900" dirty="0"/>
          </a:p>
        </p:txBody>
      </p:sp>
      <p:sp>
        <p:nvSpPr>
          <p:cNvPr id="32" name="Shape 21"/>
          <p:cNvSpPr/>
          <p:nvPr/>
        </p:nvSpPr>
        <p:spPr>
          <a:xfrm>
            <a:off x="10323576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88752" y="2185416"/>
            <a:ext cx="475488" cy="47548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10351008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777240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416" y="3300984"/>
            <a:ext cx="475488" cy="47548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804672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38" name="Shape 25"/>
          <p:cNvSpPr/>
          <p:nvPr/>
        </p:nvSpPr>
        <p:spPr>
          <a:xfrm>
            <a:off x="1837944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3120" y="3300984"/>
            <a:ext cx="475488" cy="47548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1865376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900" dirty="0"/>
          </a:p>
        </p:txBody>
      </p:sp>
      <p:sp>
        <p:nvSpPr>
          <p:cNvPr id="41" name="Shape 27"/>
          <p:cNvSpPr/>
          <p:nvPr/>
        </p:nvSpPr>
        <p:spPr>
          <a:xfrm>
            <a:off x="2898648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63824" y="3300984"/>
            <a:ext cx="475488" cy="47548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2926080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00" dirty="0"/>
          </a:p>
        </p:txBody>
      </p:sp>
      <p:sp>
        <p:nvSpPr>
          <p:cNvPr id="44" name="Shape 29"/>
          <p:cNvSpPr/>
          <p:nvPr/>
        </p:nvSpPr>
        <p:spPr>
          <a:xfrm>
            <a:off x="3959352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24528" y="3300984"/>
            <a:ext cx="475488" cy="475488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3986784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900" dirty="0"/>
          </a:p>
        </p:txBody>
      </p:sp>
      <p:sp>
        <p:nvSpPr>
          <p:cNvPr id="47" name="Shape 31"/>
          <p:cNvSpPr/>
          <p:nvPr/>
        </p:nvSpPr>
        <p:spPr>
          <a:xfrm>
            <a:off x="5020056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85232" y="3300984"/>
            <a:ext cx="475488" cy="475488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5047488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900" dirty="0"/>
          </a:p>
        </p:txBody>
      </p:sp>
      <p:sp>
        <p:nvSpPr>
          <p:cNvPr id="50" name="Shape 33"/>
          <p:cNvSpPr/>
          <p:nvPr/>
        </p:nvSpPr>
        <p:spPr>
          <a:xfrm>
            <a:off x="6080760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5936" y="3300984"/>
            <a:ext cx="475488" cy="475488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6108192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53" name="Shape 35"/>
          <p:cNvSpPr/>
          <p:nvPr/>
        </p:nvSpPr>
        <p:spPr>
          <a:xfrm>
            <a:off x="7141464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4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06640" y="3300984"/>
            <a:ext cx="475488" cy="475488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7168896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56" name="Shape 37"/>
          <p:cNvSpPr/>
          <p:nvPr/>
        </p:nvSpPr>
        <p:spPr>
          <a:xfrm>
            <a:off x="8202168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67344" y="3300984"/>
            <a:ext cx="475488" cy="475488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8229600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59" name="Shape 39"/>
          <p:cNvSpPr/>
          <p:nvPr/>
        </p:nvSpPr>
        <p:spPr>
          <a:xfrm>
            <a:off x="9262872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28048" y="3300984"/>
            <a:ext cx="475488" cy="475488"/>
          </a:xfrm>
          <a:prstGeom prst="rect">
            <a:avLst/>
          </a:prstGeom>
        </p:spPr>
      </p:pic>
      <p:sp>
        <p:nvSpPr>
          <p:cNvPr id="61" name="Text 40"/>
          <p:cNvSpPr/>
          <p:nvPr/>
        </p:nvSpPr>
        <p:spPr>
          <a:xfrm>
            <a:off x="9290304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900" dirty="0"/>
          </a:p>
        </p:txBody>
      </p:sp>
      <p:sp>
        <p:nvSpPr>
          <p:cNvPr id="62" name="Shape 41"/>
          <p:cNvSpPr/>
          <p:nvPr/>
        </p:nvSpPr>
        <p:spPr>
          <a:xfrm>
            <a:off x="10323576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3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88752" y="3300984"/>
            <a:ext cx="475488" cy="475488"/>
          </a:xfrm>
          <a:prstGeom prst="rect">
            <a:avLst/>
          </a:prstGeom>
        </p:spPr>
      </p:pic>
      <p:sp>
        <p:nvSpPr>
          <p:cNvPr id="64" name="Text 42"/>
          <p:cNvSpPr/>
          <p:nvPr/>
        </p:nvSpPr>
        <p:spPr>
          <a:xfrm>
            <a:off x="10351008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00" dirty="0"/>
          </a:p>
        </p:txBody>
      </p:sp>
      <p:sp>
        <p:nvSpPr>
          <p:cNvPr id="65" name="Shape 43"/>
          <p:cNvSpPr/>
          <p:nvPr/>
        </p:nvSpPr>
        <p:spPr>
          <a:xfrm>
            <a:off x="777240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6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2416" y="4416552"/>
            <a:ext cx="475488" cy="475488"/>
          </a:xfrm>
          <a:prstGeom prst="rect">
            <a:avLst/>
          </a:prstGeom>
        </p:spPr>
      </p:pic>
      <p:sp>
        <p:nvSpPr>
          <p:cNvPr id="67" name="Text 44"/>
          <p:cNvSpPr/>
          <p:nvPr/>
        </p:nvSpPr>
        <p:spPr>
          <a:xfrm>
            <a:off x="804672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68" name="Shape 45"/>
          <p:cNvSpPr/>
          <p:nvPr/>
        </p:nvSpPr>
        <p:spPr>
          <a:xfrm>
            <a:off x="1837944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9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03120" y="4416552"/>
            <a:ext cx="475488" cy="475488"/>
          </a:xfrm>
          <a:prstGeom prst="rect">
            <a:avLst/>
          </a:prstGeom>
        </p:spPr>
      </p:pic>
      <p:sp>
        <p:nvSpPr>
          <p:cNvPr id="70" name="Text 46"/>
          <p:cNvSpPr/>
          <p:nvPr/>
        </p:nvSpPr>
        <p:spPr>
          <a:xfrm>
            <a:off x="1865376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00" dirty="0"/>
          </a:p>
        </p:txBody>
      </p:sp>
      <p:sp>
        <p:nvSpPr>
          <p:cNvPr id="71" name="Shape 47"/>
          <p:cNvSpPr/>
          <p:nvPr/>
        </p:nvSpPr>
        <p:spPr>
          <a:xfrm>
            <a:off x="2898648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2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63824" y="4416552"/>
            <a:ext cx="475488" cy="475488"/>
          </a:xfrm>
          <a:prstGeom prst="rect">
            <a:avLst/>
          </a:prstGeom>
        </p:spPr>
      </p:pic>
      <p:sp>
        <p:nvSpPr>
          <p:cNvPr id="73" name="Text 48"/>
          <p:cNvSpPr/>
          <p:nvPr/>
        </p:nvSpPr>
        <p:spPr>
          <a:xfrm>
            <a:off x="2926080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900" dirty="0"/>
          </a:p>
        </p:txBody>
      </p:sp>
      <p:sp>
        <p:nvSpPr>
          <p:cNvPr id="74" name="Shape 49"/>
          <p:cNvSpPr/>
          <p:nvPr/>
        </p:nvSpPr>
        <p:spPr>
          <a:xfrm>
            <a:off x="3959352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24528" y="4416552"/>
            <a:ext cx="475488" cy="475488"/>
          </a:xfrm>
          <a:prstGeom prst="rect">
            <a:avLst/>
          </a:prstGeom>
        </p:spPr>
      </p:pic>
      <p:sp>
        <p:nvSpPr>
          <p:cNvPr id="76" name="Text 50"/>
          <p:cNvSpPr/>
          <p:nvPr/>
        </p:nvSpPr>
        <p:spPr>
          <a:xfrm>
            <a:off x="3986784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900" dirty="0"/>
          </a:p>
        </p:txBody>
      </p:sp>
      <p:sp>
        <p:nvSpPr>
          <p:cNvPr id="77" name="Shape 51"/>
          <p:cNvSpPr/>
          <p:nvPr/>
        </p:nvSpPr>
        <p:spPr>
          <a:xfrm>
            <a:off x="5020056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8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85232" y="4416552"/>
            <a:ext cx="475488" cy="475488"/>
          </a:xfrm>
          <a:prstGeom prst="rect">
            <a:avLst/>
          </a:prstGeom>
        </p:spPr>
      </p:pic>
      <p:sp>
        <p:nvSpPr>
          <p:cNvPr id="79" name="Text 52"/>
          <p:cNvSpPr/>
          <p:nvPr/>
        </p:nvSpPr>
        <p:spPr>
          <a:xfrm>
            <a:off x="5047488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80" name="Shape 53"/>
          <p:cNvSpPr/>
          <p:nvPr/>
        </p:nvSpPr>
        <p:spPr>
          <a:xfrm>
            <a:off x="6080760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1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45936" y="4416552"/>
            <a:ext cx="475488" cy="475488"/>
          </a:xfrm>
          <a:prstGeom prst="rect">
            <a:avLst/>
          </a:prstGeom>
        </p:spPr>
      </p:pic>
      <p:sp>
        <p:nvSpPr>
          <p:cNvPr id="82" name="Text 54"/>
          <p:cNvSpPr/>
          <p:nvPr/>
        </p:nvSpPr>
        <p:spPr>
          <a:xfrm>
            <a:off x="6108192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83" name="Shape 55"/>
          <p:cNvSpPr/>
          <p:nvPr/>
        </p:nvSpPr>
        <p:spPr>
          <a:xfrm>
            <a:off x="7141464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4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06640" y="4416552"/>
            <a:ext cx="475488" cy="475488"/>
          </a:xfrm>
          <a:prstGeom prst="rect">
            <a:avLst/>
          </a:prstGeom>
        </p:spPr>
      </p:pic>
      <p:sp>
        <p:nvSpPr>
          <p:cNvPr id="85" name="Text 56"/>
          <p:cNvSpPr/>
          <p:nvPr/>
        </p:nvSpPr>
        <p:spPr>
          <a:xfrm>
            <a:off x="7168896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6" name="Shape 57"/>
          <p:cNvSpPr/>
          <p:nvPr/>
        </p:nvSpPr>
        <p:spPr>
          <a:xfrm>
            <a:off x="8202168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7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67344" y="4416552"/>
            <a:ext cx="475488" cy="475488"/>
          </a:xfrm>
          <a:prstGeom prst="rect">
            <a:avLst/>
          </a:prstGeom>
        </p:spPr>
      </p:pic>
      <p:sp>
        <p:nvSpPr>
          <p:cNvPr id="88" name="Text 58"/>
          <p:cNvSpPr/>
          <p:nvPr/>
        </p:nvSpPr>
        <p:spPr>
          <a:xfrm>
            <a:off x="8229600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00" dirty="0"/>
          </a:p>
        </p:txBody>
      </p:sp>
      <p:sp>
        <p:nvSpPr>
          <p:cNvPr id="89" name="Shape 59"/>
          <p:cNvSpPr/>
          <p:nvPr/>
        </p:nvSpPr>
        <p:spPr>
          <a:xfrm>
            <a:off x="9262872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528048" y="4416552"/>
            <a:ext cx="475488" cy="475488"/>
          </a:xfrm>
          <a:prstGeom prst="rect">
            <a:avLst/>
          </a:prstGeom>
        </p:spPr>
      </p:pic>
      <p:sp>
        <p:nvSpPr>
          <p:cNvPr id="91" name="Text 60"/>
          <p:cNvSpPr/>
          <p:nvPr/>
        </p:nvSpPr>
        <p:spPr>
          <a:xfrm>
            <a:off x="9290304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92" name="Shape 61"/>
          <p:cNvSpPr/>
          <p:nvPr/>
        </p:nvSpPr>
        <p:spPr>
          <a:xfrm>
            <a:off x="10323576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3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588752" y="4416552"/>
            <a:ext cx="475488" cy="475488"/>
          </a:xfrm>
          <a:prstGeom prst="rect">
            <a:avLst/>
          </a:prstGeom>
        </p:spPr>
      </p:pic>
      <p:sp>
        <p:nvSpPr>
          <p:cNvPr id="94" name="Text 62"/>
          <p:cNvSpPr/>
          <p:nvPr/>
        </p:nvSpPr>
        <p:spPr>
          <a:xfrm>
            <a:off x="10351008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900" dirty="0"/>
          </a:p>
        </p:txBody>
      </p:sp>
      <p:sp>
        <p:nvSpPr>
          <p:cNvPr id="95" name="Shape 63"/>
          <p:cNvSpPr/>
          <p:nvPr/>
        </p:nvSpPr>
        <p:spPr>
          <a:xfrm>
            <a:off x="777240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6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42416" y="5532120"/>
            <a:ext cx="475488" cy="475488"/>
          </a:xfrm>
          <a:prstGeom prst="rect">
            <a:avLst/>
          </a:prstGeom>
        </p:spPr>
      </p:pic>
      <p:sp>
        <p:nvSpPr>
          <p:cNvPr id="97" name="Text 64"/>
          <p:cNvSpPr/>
          <p:nvPr/>
        </p:nvSpPr>
        <p:spPr>
          <a:xfrm>
            <a:off x="804672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endParaRPr lang="en-US" sz="900" dirty="0"/>
          </a:p>
        </p:txBody>
      </p:sp>
      <p:sp>
        <p:nvSpPr>
          <p:cNvPr id="98" name="Shape 65"/>
          <p:cNvSpPr/>
          <p:nvPr/>
        </p:nvSpPr>
        <p:spPr>
          <a:xfrm>
            <a:off x="1837944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9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03120" y="5532120"/>
            <a:ext cx="475488" cy="475488"/>
          </a:xfrm>
          <a:prstGeom prst="rect">
            <a:avLst/>
          </a:prstGeom>
        </p:spPr>
      </p:pic>
      <p:sp>
        <p:nvSpPr>
          <p:cNvPr id="100" name="Text 66"/>
          <p:cNvSpPr/>
          <p:nvPr/>
        </p:nvSpPr>
        <p:spPr>
          <a:xfrm>
            <a:off x="1865376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00" dirty="0"/>
          </a:p>
        </p:txBody>
      </p:sp>
      <p:sp>
        <p:nvSpPr>
          <p:cNvPr id="101" name="Shape 67"/>
          <p:cNvSpPr/>
          <p:nvPr/>
        </p:nvSpPr>
        <p:spPr>
          <a:xfrm>
            <a:off x="2898648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02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63824" y="5532120"/>
            <a:ext cx="475488" cy="475488"/>
          </a:xfrm>
          <a:prstGeom prst="rect">
            <a:avLst/>
          </a:prstGeom>
        </p:spPr>
      </p:pic>
      <p:sp>
        <p:nvSpPr>
          <p:cNvPr id="103" name="Text 68"/>
          <p:cNvSpPr/>
          <p:nvPr/>
        </p:nvSpPr>
        <p:spPr>
          <a:xfrm>
            <a:off x="2926080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900" dirty="0"/>
          </a:p>
        </p:txBody>
      </p:sp>
      <p:sp>
        <p:nvSpPr>
          <p:cNvPr id="104" name="Shape 69"/>
          <p:cNvSpPr/>
          <p:nvPr/>
        </p:nvSpPr>
        <p:spPr>
          <a:xfrm>
            <a:off x="3959352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05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224528" y="5532120"/>
            <a:ext cx="475488" cy="475488"/>
          </a:xfrm>
          <a:prstGeom prst="rect">
            <a:avLst/>
          </a:prstGeom>
        </p:spPr>
      </p:pic>
      <p:sp>
        <p:nvSpPr>
          <p:cNvPr id="106" name="Text 70"/>
          <p:cNvSpPr/>
          <p:nvPr/>
        </p:nvSpPr>
        <p:spPr>
          <a:xfrm>
            <a:off x="3986784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900" dirty="0"/>
          </a:p>
        </p:txBody>
      </p:sp>
      <p:sp>
        <p:nvSpPr>
          <p:cNvPr id="107" name="Text 7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Concept Icons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building blocks for system diagrams — recolor and reuse freely.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134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032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13432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41448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3134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5224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849624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977640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3134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71416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385816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513832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231343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07608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922008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050024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2313432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43800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8458200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586216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2313432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079992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9994392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0122408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0" y="2313432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616184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777240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05256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" y="3136392"/>
            <a:ext cx="219456" cy="21945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399032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2313432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2441448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0" y="3136392"/>
            <a:ext cx="219456" cy="21945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2935224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3849624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3977640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6512" y="3136392"/>
            <a:ext cx="219456" cy="21945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471416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950" dirty="0"/>
          </a:p>
        </p:txBody>
      </p:sp>
      <p:sp>
        <p:nvSpPr>
          <p:cNvPr id="45" name="Shape 33"/>
          <p:cNvSpPr/>
          <p:nvPr/>
        </p:nvSpPr>
        <p:spPr>
          <a:xfrm>
            <a:off x="5385816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5513832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2704" y="3136392"/>
            <a:ext cx="219456" cy="219456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007608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49" name="Shape 36"/>
          <p:cNvSpPr/>
          <p:nvPr/>
        </p:nvSpPr>
        <p:spPr>
          <a:xfrm>
            <a:off x="6922008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7050024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8896" y="3136392"/>
            <a:ext cx="219456" cy="219456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543800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950" dirty="0"/>
          </a:p>
        </p:txBody>
      </p:sp>
      <p:sp>
        <p:nvSpPr>
          <p:cNvPr id="53" name="Shape 39"/>
          <p:cNvSpPr/>
          <p:nvPr/>
        </p:nvSpPr>
        <p:spPr>
          <a:xfrm>
            <a:off x="8458200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>
            <a:off x="8586216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5088" y="3136392"/>
            <a:ext cx="219456" cy="219456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9079992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57" name="Shape 42"/>
          <p:cNvSpPr/>
          <p:nvPr/>
        </p:nvSpPr>
        <p:spPr>
          <a:xfrm>
            <a:off x="9994392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10122408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41280" y="3136392"/>
            <a:ext cx="219456" cy="219456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10616184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50" dirty="0"/>
          </a:p>
        </p:txBody>
      </p:sp>
      <p:sp>
        <p:nvSpPr>
          <p:cNvPr id="61" name="Shape 45"/>
          <p:cNvSpPr/>
          <p:nvPr/>
        </p:nvSpPr>
        <p:spPr>
          <a:xfrm>
            <a:off x="777240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2" name="Shape 46"/>
          <p:cNvSpPr/>
          <p:nvPr/>
        </p:nvSpPr>
        <p:spPr>
          <a:xfrm>
            <a:off x="905256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128" y="3959352"/>
            <a:ext cx="219456" cy="219456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1399032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65" name="Shape 48"/>
          <p:cNvSpPr/>
          <p:nvPr/>
        </p:nvSpPr>
        <p:spPr>
          <a:xfrm>
            <a:off x="2313432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6" name="Shape 49"/>
          <p:cNvSpPr/>
          <p:nvPr/>
        </p:nvSpPr>
        <p:spPr>
          <a:xfrm>
            <a:off x="2441448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6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60320" y="3959352"/>
            <a:ext cx="219456" cy="219456"/>
          </a:xfrm>
          <a:prstGeom prst="rect">
            <a:avLst/>
          </a:prstGeom>
        </p:spPr>
      </p:pic>
      <p:sp>
        <p:nvSpPr>
          <p:cNvPr id="68" name="Text 50"/>
          <p:cNvSpPr/>
          <p:nvPr/>
        </p:nvSpPr>
        <p:spPr>
          <a:xfrm>
            <a:off x="2935224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69" name="Shape 51"/>
          <p:cNvSpPr/>
          <p:nvPr/>
        </p:nvSpPr>
        <p:spPr>
          <a:xfrm>
            <a:off x="3849624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0" name="Shape 52"/>
          <p:cNvSpPr/>
          <p:nvPr/>
        </p:nvSpPr>
        <p:spPr>
          <a:xfrm>
            <a:off x="3977640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1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6512" y="3959352"/>
            <a:ext cx="219456" cy="219456"/>
          </a:xfrm>
          <a:prstGeom prst="rect">
            <a:avLst/>
          </a:prstGeom>
        </p:spPr>
      </p:pic>
      <p:sp>
        <p:nvSpPr>
          <p:cNvPr id="72" name="Text 53"/>
          <p:cNvSpPr/>
          <p:nvPr/>
        </p:nvSpPr>
        <p:spPr>
          <a:xfrm>
            <a:off x="4471416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73" name="Shape 54"/>
          <p:cNvSpPr/>
          <p:nvPr/>
        </p:nvSpPr>
        <p:spPr>
          <a:xfrm>
            <a:off x="5385816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4" name="Shape 55"/>
          <p:cNvSpPr/>
          <p:nvPr/>
        </p:nvSpPr>
        <p:spPr>
          <a:xfrm>
            <a:off x="5513832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5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32704" y="3959352"/>
            <a:ext cx="219456" cy="219456"/>
          </a:xfrm>
          <a:prstGeom prst="rect">
            <a:avLst/>
          </a:prstGeom>
        </p:spPr>
      </p:pic>
      <p:sp>
        <p:nvSpPr>
          <p:cNvPr id="76" name="Text 56"/>
          <p:cNvSpPr/>
          <p:nvPr/>
        </p:nvSpPr>
        <p:spPr>
          <a:xfrm>
            <a:off x="6007608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950" dirty="0"/>
          </a:p>
        </p:txBody>
      </p:sp>
      <p:sp>
        <p:nvSpPr>
          <p:cNvPr id="77" name="Shape 57"/>
          <p:cNvSpPr/>
          <p:nvPr/>
        </p:nvSpPr>
        <p:spPr>
          <a:xfrm>
            <a:off x="6922008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8" name="Shape 58"/>
          <p:cNvSpPr/>
          <p:nvPr/>
        </p:nvSpPr>
        <p:spPr>
          <a:xfrm>
            <a:off x="7050024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9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68896" y="3959352"/>
            <a:ext cx="219456" cy="219456"/>
          </a:xfrm>
          <a:prstGeom prst="rect">
            <a:avLst/>
          </a:prstGeom>
        </p:spPr>
      </p:pic>
      <p:sp>
        <p:nvSpPr>
          <p:cNvPr id="80" name="Text 59"/>
          <p:cNvSpPr/>
          <p:nvPr/>
        </p:nvSpPr>
        <p:spPr>
          <a:xfrm>
            <a:off x="7543800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81" name="Shape 60"/>
          <p:cNvSpPr/>
          <p:nvPr/>
        </p:nvSpPr>
        <p:spPr>
          <a:xfrm>
            <a:off x="8458200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2" name="Shape 61"/>
          <p:cNvSpPr/>
          <p:nvPr/>
        </p:nvSpPr>
        <p:spPr>
          <a:xfrm>
            <a:off x="8586216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83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05088" y="3959352"/>
            <a:ext cx="219456" cy="219456"/>
          </a:xfrm>
          <a:prstGeom prst="rect">
            <a:avLst/>
          </a:prstGeom>
        </p:spPr>
      </p:pic>
      <p:sp>
        <p:nvSpPr>
          <p:cNvPr id="84" name="Text 62"/>
          <p:cNvSpPr/>
          <p:nvPr/>
        </p:nvSpPr>
        <p:spPr>
          <a:xfrm>
            <a:off x="9079992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</p:txBody>
      </p:sp>
      <p:sp>
        <p:nvSpPr>
          <p:cNvPr id="85" name="Shape 63"/>
          <p:cNvSpPr/>
          <p:nvPr/>
        </p:nvSpPr>
        <p:spPr>
          <a:xfrm>
            <a:off x="9994392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6" name="Shape 64"/>
          <p:cNvSpPr/>
          <p:nvPr/>
        </p:nvSpPr>
        <p:spPr>
          <a:xfrm>
            <a:off x="10122408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87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41280" y="3959352"/>
            <a:ext cx="219456" cy="219456"/>
          </a:xfrm>
          <a:prstGeom prst="rect">
            <a:avLst/>
          </a:prstGeom>
        </p:spPr>
      </p:pic>
      <p:sp>
        <p:nvSpPr>
          <p:cNvPr id="88" name="Text 65"/>
          <p:cNvSpPr/>
          <p:nvPr/>
        </p:nvSpPr>
        <p:spPr>
          <a:xfrm>
            <a:off x="10616184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950" dirty="0"/>
          </a:p>
        </p:txBody>
      </p:sp>
      <p:sp>
        <p:nvSpPr>
          <p:cNvPr id="89" name="Shape 66"/>
          <p:cNvSpPr/>
          <p:nvPr/>
        </p:nvSpPr>
        <p:spPr>
          <a:xfrm>
            <a:off x="777240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0" name="Shape 67"/>
          <p:cNvSpPr/>
          <p:nvPr/>
        </p:nvSpPr>
        <p:spPr>
          <a:xfrm>
            <a:off x="905256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1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4128" y="4782312"/>
            <a:ext cx="219456" cy="219456"/>
          </a:xfrm>
          <a:prstGeom prst="rect">
            <a:avLst/>
          </a:prstGeom>
        </p:spPr>
      </p:pic>
      <p:sp>
        <p:nvSpPr>
          <p:cNvPr id="92" name="Text 68"/>
          <p:cNvSpPr/>
          <p:nvPr/>
        </p:nvSpPr>
        <p:spPr>
          <a:xfrm>
            <a:off x="1399032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93" name="Shape 69"/>
          <p:cNvSpPr/>
          <p:nvPr/>
        </p:nvSpPr>
        <p:spPr>
          <a:xfrm>
            <a:off x="2313432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4" name="Shape 70"/>
          <p:cNvSpPr/>
          <p:nvPr/>
        </p:nvSpPr>
        <p:spPr>
          <a:xfrm>
            <a:off x="2441448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5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60320" y="4782312"/>
            <a:ext cx="219456" cy="219456"/>
          </a:xfrm>
          <a:prstGeom prst="rect">
            <a:avLst/>
          </a:prstGeom>
        </p:spPr>
      </p:pic>
      <p:sp>
        <p:nvSpPr>
          <p:cNvPr id="96" name="Text 71"/>
          <p:cNvSpPr/>
          <p:nvPr/>
        </p:nvSpPr>
        <p:spPr>
          <a:xfrm>
            <a:off x="2935224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50" dirty="0"/>
          </a:p>
        </p:txBody>
      </p:sp>
      <p:sp>
        <p:nvSpPr>
          <p:cNvPr id="97" name="Shape 72"/>
          <p:cNvSpPr/>
          <p:nvPr/>
        </p:nvSpPr>
        <p:spPr>
          <a:xfrm>
            <a:off x="3849624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8" name="Shape 73"/>
          <p:cNvSpPr/>
          <p:nvPr/>
        </p:nvSpPr>
        <p:spPr>
          <a:xfrm>
            <a:off x="3977640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9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96512" y="4782312"/>
            <a:ext cx="219456" cy="219456"/>
          </a:xfrm>
          <a:prstGeom prst="rect">
            <a:avLst/>
          </a:prstGeom>
        </p:spPr>
      </p:pic>
      <p:sp>
        <p:nvSpPr>
          <p:cNvPr id="100" name="Text 74"/>
          <p:cNvSpPr/>
          <p:nvPr/>
        </p:nvSpPr>
        <p:spPr>
          <a:xfrm>
            <a:off x="4471416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101" name="Shape 75"/>
          <p:cNvSpPr/>
          <p:nvPr/>
        </p:nvSpPr>
        <p:spPr>
          <a:xfrm>
            <a:off x="5385816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2" name="Shape 76"/>
          <p:cNvSpPr/>
          <p:nvPr/>
        </p:nvSpPr>
        <p:spPr>
          <a:xfrm>
            <a:off x="5513832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03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32704" y="4782312"/>
            <a:ext cx="219456" cy="219456"/>
          </a:xfrm>
          <a:prstGeom prst="rect">
            <a:avLst/>
          </a:prstGeom>
        </p:spPr>
      </p:pic>
      <p:sp>
        <p:nvSpPr>
          <p:cNvPr id="104" name="Text 77"/>
          <p:cNvSpPr/>
          <p:nvPr/>
        </p:nvSpPr>
        <p:spPr>
          <a:xfrm>
            <a:off x="6007608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50" dirty="0"/>
          </a:p>
        </p:txBody>
      </p:sp>
      <p:sp>
        <p:nvSpPr>
          <p:cNvPr id="105" name="Shape 78"/>
          <p:cNvSpPr/>
          <p:nvPr/>
        </p:nvSpPr>
        <p:spPr>
          <a:xfrm>
            <a:off x="6922008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6" name="Shape 79"/>
          <p:cNvSpPr/>
          <p:nvPr/>
        </p:nvSpPr>
        <p:spPr>
          <a:xfrm>
            <a:off x="7050024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0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68896" y="4782312"/>
            <a:ext cx="219456" cy="219456"/>
          </a:xfrm>
          <a:prstGeom prst="rect">
            <a:avLst/>
          </a:prstGeom>
        </p:spPr>
      </p:pic>
      <p:sp>
        <p:nvSpPr>
          <p:cNvPr id="108" name="Text 80"/>
          <p:cNvSpPr/>
          <p:nvPr/>
        </p:nvSpPr>
        <p:spPr>
          <a:xfrm>
            <a:off x="7543800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109" name="Shape 81"/>
          <p:cNvSpPr/>
          <p:nvPr/>
        </p:nvSpPr>
        <p:spPr>
          <a:xfrm>
            <a:off x="8458200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0" name="Shape 82"/>
          <p:cNvSpPr/>
          <p:nvPr/>
        </p:nvSpPr>
        <p:spPr>
          <a:xfrm>
            <a:off x="8586216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1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05088" y="4782312"/>
            <a:ext cx="219456" cy="219456"/>
          </a:xfrm>
          <a:prstGeom prst="rect">
            <a:avLst/>
          </a:prstGeom>
        </p:spPr>
      </p:pic>
      <p:sp>
        <p:nvSpPr>
          <p:cNvPr id="112" name="Text 83"/>
          <p:cNvSpPr/>
          <p:nvPr/>
        </p:nvSpPr>
        <p:spPr>
          <a:xfrm>
            <a:off x="9079992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50" dirty="0"/>
          </a:p>
        </p:txBody>
      </p:sp>
      <p:sp>
        <p:nvSpPr>
          <p:cNvPr id="113" name="Shape 84"/>
          <p:cNvSpPr/>
          <p:nvPr/>
        </p:nvSpPr>
        <p:spPr>
          <a:xfrm>
            <a:off x="9994392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4" name="Shape 85"/>
          <p:cNvSpPr/>
          <p:nvPr/>
        </p:nvSpPr>
        <p:spPr>
          <a:xfrm>
            <a:off x="10122408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5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41280" y="4782312"/>
            <a:ext cx="219456" cy="219456"/>
          </a:xfrm>
          <a:prstGeom prst="rect">
            <a:avLst/>
          </a:prstGeom>
        </p:spPr>
      </p:pic>
      <p:sp>
        <p:nvSpPr>
          <p:cNvPr id="116" name="Text 86"/>
          <p:cNvSpPr/>
          <p:nvPr/>
        </p:nvSpPr>
        <p:spPr>
          <a:xfrm>
            <a:off x="10616184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</p:txBody>
      </p:sp>
      <p:sp>
        <p:nvSpPr>
          <p:cNvPr id="117" name="Shape 87"/>
          <p:cNvSpPr/>
          <p:nvPr/>
        </p:nvSpPr>
        <p:spPr>
          <a:xfrm>
            <a:off x="777240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8" name="Shape 88"/>
          <p:cNvSpPr/>
          <p:nvPr/>
        </p:nvSpPr>
        <p:spPr>
          <a:xfrm>
            <a:off x="905256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9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4128" y="5605272"/>
            <a:ext cx="219456" cy="219456"/>
          </a:xfrm>
          <a:prstGeom prst="rect">
            <a:avLst/>
          </a:prstGeom>
        </p:spPr>
      </p:pic>
      <p:sp>
        <p:nvSpPr>
          <p:cNvPr id="120" name="Text 89"/>
          <p:cNvSpPr/>
          <p:nvPr/>
        </p:nvSpPr>
        <p:spPr>
          <a:xfrm>
            <a:off x="1399032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121" name="Shape 90"/>
          <p:cNvSpPr/>
          <p:nvPr/>
        </p:nvSpPr>
        <p:spPr>
          <a:xfrm>
            <a:off x="2313432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2" name="Shape 91"/>
          <p:cNvSpPr/>
          <p:nvPr/>
        </p:nvSpPr>
        <p:spPr>
          <a:xfrm>
            <a:off x="2441448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23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60320" y="5605272"/>
            <a:ext cx="219456" cy="219456"/>
          </a:xfrm>
          <a:prstGeom prst="rect">
            <a:avLst/>
          </a:prstGeom>
        </p:spPr>
      </p:pic>
      <p:sp>
        <p:nvSpPr>
          <p:cNvPr id="124" name="Text 92"/>
          <p:cNvSpPr/>
          <p:nvPr/>
        </p:nvSpPr>
        <p:spPr>
          <a:xfrm>
            <a:off x="2935224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950" dirty="0"/>
          </a:p>
        </p:txBody>
      </p:sp>
      <p:sp>
        <p:nvSpPr>
          <p:cNvPr id="125" name="Shape 93"/>
          <p:cNvSpPr/>
          <p:nvPr/>
        </p:nvSpPr>
        <p:spPr>
          <a:xfrm>
            <a:off x="3849624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6" name="Shape 94"/>
          <p:cNvSpPr/>
          <p:nvPr/>
        </p:nvSpPr>
        <p:spPr>
          <a:xfrm>
            <a:off x="3977640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27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096512" y="5605272"/>
            <a:ext cx="219456" cy="219456"/>
          </a:xfrm>
          <a:prstGeom prst="rect">
            <a:avLst/>
          </a:prstGeom>
        </p:spPr>
      </p:pic>
      <p:sp>
        <p:nvSpPr>
          <p:cNvPr id="128" name="Text 95"/>
          <p:cNvSpPr/>
          <p:nvPr/>
        </p:nvSpPr>
        <p:spPr>
          <a:xfrm>
            <a:off x="4471416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950" dirty="0"/>
          </a:p>
        </p:txBody>
      </p:sp>
      <p:sp>
        <p:nvSpPr>
          <p:cNvPr id="129" name="Shape 96"/>
          <p:cNvSpPr/>
          <p:nvPr/>
        </p:nvSpPr>
        <p:spPr>
          <a:xfrm>
            <a:off x="5385816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0" name="Shape 97"/>
          <p:cNvSpPr/>
          <p:nvPr/>
        </p:nvSpPr>
        <p:spPr>
          <a:xfrm>
            <a:off x="5513832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1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632704" y="5605272"/>
            <a:ext cx="219456" cy="219456"/>
          </a:xfrm>
          <a:prstGeom prst="rect">
            <a:avLst/>
          </a:prstGeom>
        </p:spPr>
      </p:pic>
      <p:sp>
        <p:nvSpPr>
          <p:cNvPr id="132" name="Text 98"/>
          <p:cNvSpPr/>
          <p:nvPr/>
        </p:nvSpPr>
        <p:spPr>
          <a:xfrm>
            <a:off x="6007608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50" dirty="0"/>
          </a:p>
        </p:txBody>
      </p:sp>
      <p:sp>
        <p:nvSpPr>
          <p:cNvPr id="133" name="Shape 99"/>
          <p:cNvSpPr/>
          <p:nvPr/>
        </p:nvSpPr>
        <p:spPr>
          <a:xfrm>
            <a:off x="6922008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4" name="Shape 100"/>
          <p:cNvSpPr/>
          <p:nvPr/>
        </p:nvSpPr>
        <p:spPr>
          <a:xfrm>
            <a:off x="7050024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5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168896" y="5605272"/>
            <a:ext cx="219456" cy="219456"/>
          </a:xfrm>
          <a:prstGeom prst="rect">
            <a:avLst/>
          </a:prstGeom>
        </p:spPr>
      </p:pic>
      <p:sp>
        <p:nvSpPr>
          <p:cNvPr id="136" name="Text 101"/>
          <p:cNvSpPr/>
          <p:nvPr/>
        </p:nvSpPr>
        <p:spPr>
          <a:xfrm>
            <a:off x="7543800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50" dirty="0"/>
          </a:p>
        </p:txBody>
      </p:sp>
      <p:sp>
        <p:nvSpPr>
          <p:cNvPr id="137" name="Shape 102"/>
          <p:cNvSpPr/>
          <p:nvPr/>
        </p:nvSpPr>
        <p:spPr>
          <a:xfrm>
            <a:off x="8458200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8" name="Shape 103"/>
          <p:cNvSpPr/>
          <p:nvPr/>
        </p:nvSpPr>
        <p:spPr>
          <a:xfrm>
            <a:off x="8586216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9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705088" y="5605272"/>
            <a:ext cx="219456" cy="219456"/>
          </a:xfrm>
          <a:prstGeom prst="rect">
            <a:avLst/>
          </a:prstGeom>
        </p:spPr>
      </p:pic>
      <p:sp>
        <p:nvSpPr>
          <p:cNvPr id="140" name="Text 104"/>
          <p:cNvSpPr/>
          <p:nvPr/>
        </p:nvSpPr>
        <p:spPr>
          <a:xfrm>
            <a:off x="9079992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141" name="Shape 105"/>
          <p:cNvSpPr/>
          <p:nvPr/>
        </p:nvSpPr>
        <p:spPr>
          <a:xfrm>
            <a:off x="9994392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2" name="Shape 106"/>
          <p:cNvSpPr/>
          <p:nvPr/>
        </p:nvSpPr>
        <p:spPr>
          <a:xfrm>
            <a:off x="10122408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43" name="Image 3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241280" y="5605272"/>
            <a:ext cx="219456" cy="219456"/>
          </a:xfrm>
          <a:prstGeom prst="rect">
            <a:avLst/>
          </a:prstGeom>
        </p:spPr>
      </p:pic>
      <p:sp>
        <p:nvSpPr>
          <p:cNvPr id="144" name="Text 107"/>
          <p:cNvSpPr/>
          <p:nvPr/>
        </p:nvSpPr>
        <p:spPr>
          <a:xfrm>
            <a:off x="10616184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50" dirty="0"/>
          </a:p>
        </p:txBody>
      </p:sp>
      <p:sp>
        <p:nvSpPr>
          <p:cNvPr id="145" name="Text 10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931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 Thangavelu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rajakumar.tu@gmail.com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A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 Architecture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983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component contains, and the responsibilities it owns across the three OpenShift namespaces.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ASTRONOMER NAMESPACE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Core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DAGs and triggers runs on schedule.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Triggerer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deferred tasks; fires on task.result.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operator code briefly, then defer.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Deferrable Operators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task.command; perform no compute.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DAG Bundle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Deployed, versioned workflow definitions.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Airflow REST API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Trigger, read state, and clear for re-runs.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NAMESPACE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 API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and schedules DAGs; serves the Console.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Consumer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execution.status events from Kafka.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Store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run, task, and audit history.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WS Gateway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live updates via a Redis backplane.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Reconciler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state from the Airflow REST API.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Resolver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task.result to resume deferred tasks.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EXECUTION-ENGINE NAMESPACE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Engine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 Consumer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task.command events from Kafka.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Pool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actual compute; autoscales on lag.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data systems and external services.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Publisher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execution.status on completion.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Secrets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credentials from the secrets vault.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Idempotency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Dedupes by task_run_id; safe retries.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Areas of Responsibility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Core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011680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defer DAG tasks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519172"/>
            <a:ext cx="274320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068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on task.result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06040" y="3355848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7180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6324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&amp; schedule</a:t>
            </a:r>
            <a:endParaRPr lang="en-US" sz="12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863340"/>
            <a:ext cx="274320" cy="201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4068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3212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task status</a:t>
            </a:r>
            <a:endParaRPr lang="en-US" sz="12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863340"/>
            <a:ext cx="274320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90956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0100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&amp; push live UI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4" name="Text 19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Engine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606040" y="4700016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97180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06324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compute</a:t>
            </a:r>
            <a:endParaRPr lang="en-US" sz="12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5207508"/>
            <a:ext cx="274320" cy="20116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44068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53212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execution.status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of America — Presentation Template (Extended)</dc:title>
  <dc:subject>PptxGenJS Presentation</dc:subject>
  <dc:creator>Rajakumar Thangavelu</dc:creator>
  <cp:lastModifiedBy>Rajakumar Thangavelu</cp:lastModifiedBy>
  <cp:revision>1</cp:revision>
  <dcterms:created xsi:type="dcterms:W3CDTF">2026-06-19T04:08:13Z</dcterms:created>
  <dcterms:modified xsi:type="dcterms:W3CDTF">2026-06-19T04:08:13Z</dcterms:modified>
</cp:coreProperties>
</file>